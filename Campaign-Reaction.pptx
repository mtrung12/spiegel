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Campaign-Reaction lets a marketer pre-test a campaign against a synthetic audience instead of burning real ad budget to find out it flops. You upload the brief and creative, and the system simulates how a realistic audience reacts.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teams learn too late: A/B tests spend real money, focus groups are tiny and slow, and neither shows you virality — how the message actually spreads. Campaign-Reaction gives that feedback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Build a knowledge graph from the uploaded material, turn its entities into buyer personas, seed the creative into simulated Twitter and Reddit feeds and let agents react over several rounds, count the KPIs from the action log, then generate a report you can chat with. The Vue frontend walks the user through these as Step 1 to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Vue frontend talks to a Flask backend that orchestrates the pipeline. State lives in Zep Cloud as a GraphRAG knowledge graph; the social simulation is OASIS from CAMEL-AI; any OpenAI-compatible LLM drives it — cloud or a local model. An optional crawler grounds personas in real Reddit and Threads discussion, and every run is logged to structured JSONL with credentials scrubbed.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the boundary matters. Real: the knowledge graph, the counted KPIs, and the optional real-discussion corpus. Simulated: the social platforms themselves are OASIS — nothing touches real Twitter or Reddit — and the audience is agents. KPIs are counted from the action log; the two things you can't count from likes — purchase intent and objections — come from interviewing the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is a full marketing KPI set: reach, impressions, engagement, virality and cascade depth, sentiment split, share of voice, per-segment breakdowns, the round-by-round curve, plus purchase intent and objections from interviews. Everything is in the written report and also available as JSON from the metrics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Campaign-Reaction pre-flights a campaign against a synthetic audience and gives you measured KPIs instead of guesses. It runs with a couple of npm commands or Docker, frontend on 3000 and backend on 5001 — start small on rounds because simulations burn tokens. It's forked from MiroFish and stands on OASIS and Zep.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9692640" y="-2103120"/>
            <a:ext cx="5486400" cy="5486400"/>
          </a:xfrm>
          <a:prstGeom prst="ellipse">
            <a:avLst/>
          </a:prstGeom>
          <a:solidFill>
            <a:srgbClr val="1C1C1C"/>
          </a:solidFill>
          <a:ln/>
        </p:spPr>
      </p:sp>
      <p:sp>
        <p:nvSpPr>
          <p:cNvPr id="3" name="Shape 1"/>
          <p:cNvSpPr/>
          <p:nvPr/>
        </p:nvSpPr>
        <p:spPr>
          <a:xfrm>
            <a:off x="10881360" y="4297680"/>
            <a:ext cx="2926080" cy="2926080"/>
          </a:xfrm>
          <a:prstGeom prst="ellipse">
            <a:avLst/>
          </a:prstGeom>
          <a:solidFill>
            <a:srgbClr val="F97316"/>
          </a:solidFill>
          <a:ln/>
        </p:spPr>
      </p:sp>
      <p:sp>
        <p:nvSpPr>
          <p:cNvPr id="4" name="Text 2"/>
          <p:cNvSpPr/>
          <p:nvPr/>
        </p:nvSpPr>
        <p:spPr>
          <a:xfrm>
            <a:off x="640080" y="1737360"/>
            <a:ext cx="8229600" cy="457200"/>
          </a:xfrm>
          <a:prstGeom prst="rect">
            <a:avLst/>
          </a:prstGeom>
          <a:noFill/>
          <a:ln/>
        </p:spPr>
        <p:txBody>
          <a:bodyPr wrap="square" rtlCol="0" anchor="ctr"/>
          <a:lstStyle/>
          <a:p>
            <a:pPr indent="0" marL="0">
              <a:buNone/>
            </a:pPr>
            <a:r>
              <a:rPr lang="en-US" sz="1600" b="1" spc="400" kern="0" dirty="0">
                <a:solidFill>
                  <a:srgbClr val="F97316"/>
                </a:solidFill>
                <a:latin typeface="Calibri" pitchFamily="34" charset="0"/>
                <a:ea typeface="Calibri" pitchFamily="34" charset="-122"/>
                <a:cs typeface="Calibri" pitchFamily="34" charset="-120"/>
              </a:rPr>
              <a:t>CAMPAIGN-REACTION</a:t>
            </a:r>
            <a:endParaRPr lang="en-US" sz="1600" dirty="0"/>
          </a:p>
        </p:txBody>
      </p:sp>
      <p:sp>
        <p:nvSpPr>
          <p:cNvPr id="5" name="Text 3"/>
          <p:cNvSpPr/>
          <p:nvPr/>
        </p:nvSpPr>
        <p:spPr>
          <a:xfrm>
            <a:off x="621792" y="2194560"/>
            <a:ext cx="9601200" cy="1828800"/>
          </a:xfrm>
          <a:prstGeom prst="rect">
            <a:avLst/>
          </a:prstGeom>
          <a:noFill/>
          <a:ln/>
        </p:spPr>
        <p:txBody>
          <a:bodyPr wrap="square" rtlCol="0" anchor="ctr"/>
          <a:lstStyle/>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Test your campaign on a</a:t>
            </a:r>
            <a:endParaRPr lang="en-US" sz="4000" dirty="0"/>
          </a:p>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simulated audience — before you spend.</a:t>
            </a:r>
            <a:endParaRPr lang="en-US" sz="4000" dirty="0"/>
          </a:p>
        </p:txBody>
      </p:sp>
      <p:sp>
        <p:nvSpPr>
          <p:cNvPr id="6" name="Text 4"/>
          <p:cNvSpPr/>
          <p:nvPr/>
        </p:nvSpPr>
        <p:spPr>
          <a:xfrm>
            <a:off x="640080" y="4114800"/>
            <a:ext cx="8778240" cy="1005840"/>
          </a:xfrm>
          <a:prstGeom prst="rect">
            <a:avLst/>
          </a:prstGeom>
          <a:noFill/>
          <a:ln/>
        </p:spPr>
        <p:txBody>
          <a:bodyPr wrap="square" rtlCol="0" anchor="ctr"/>
          <a:lstStyle/>
          <a:p>
            <a:pPr indent="0" marL="0">
              <a:lnSpc>
                <a:spcPct val="115000"/>
              </a:lnSpc>
              <a:buNone/>
            </a:pPr>
            <a:r>
              <a:rPr lang="en-US" sz="1700" dirty="0">
                <a:solidFill>
                  <a:srgbClr val="D0D0D0"/>
                </a:solidFill>
                <a:latin typeface="Calibri" pitchFamily="34" charset="0"/>
                <a:ea typeface="Calibri" pitchFamily="34" charset="-122"/>
                <a:cs typeface="Calibri" pitchFamily="34" charset="-120"/>
              </a:rPr>
              <a:t>Upload a brief. A synthetic audience of buyer personas reacts in a simulated social feed. Get reach, engagement, sentiment and a written verdict.</a:t>
            </a:r>
            <a:endParaRPr lang="en-US" sz="1700" dirty="0"/>
          </a:p>
        </p:txBody>
      </p:sp>
      <p:sp>
        <p:nvSpPr>
          <p:cNvPr id="7" name="Text 5"/>
          <p:cNvSpPr/>
          <p:nvPr/>
        </p:nvSpPr>
        <p:spPr>
          <a:xfrm>
            <a:off x="640080" y="5852160"/>
            <a:ext cx="10972800" cy="365760"/>
          </a:xfrm>
          <a:prstGeom prst="rect">
            <a:avLst/>
          </a:prstGeom>
          <a:noFill/>
          <a:ln/>
        </p:spPr>
        <p:txBody>
          <a:bodyPr wrap="square" rtlCol="0" anchor="ctr"/>
          <a:lstStyle/>
          <a:p>
            <a:pPr indent="0" marL="0">
              <a:buNone/>
            </a:pPr>
            <a:r>
              <a:rPr lang="en-US" sz="1300" i="1" dirty="0">
                <a:solidFill>
                  <a:srgbClr val="8A8A8A"/>
                </a:solidFill>
                <a:latin typeface="Calibri" pitchFamily="34" charset="0"/>
                <a:ea typeface="Calibri" pitchFamily="34" charset="-122"/>
                <a:cs typeface="Calibri" pitchFamily="34" charset="-120"/>
              </a:rPr>
              <a:t>Vue + Flask  ·  Zep GraphRAG  ·  OASIS agent simulation  ·  any OpenAI-compatible LLM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The problem</a:t>
            </a:r>
            <a:endParaRPr lang="en-US" sz="1500" dirty="0"/>
          </a:p>
        </p:txBody>
      </p:sp>
      <p:sp>
        <p:nvSpPr>
          <p:cNvPr id="3" name="Text 1"/>
          <p:cNvSpPr/>
          <p:nvPr/>
        </p:nvSpPr>
        <p:spPr>
          <a:xfrm>
            <a:off x="640080" y="914400"/>
            <a:ext cx="8229600" cy="1280160"/>
          </a:xfrm>
          <a:prstGeom prst="rect">
            <a:avLst/>
          </a:prstGeom>
          <a:noFill/>
          <a:ln/>
        </p:spPr>
        <p:txBody>
          <a:bodyPr wrap="square" rtlCol="0" anchor="ctr"/>
          <a:lstStyle/>
          <a:p>
            <a:pPr indent="0" marL="0">
              <a:buNone/>
            </a:pPr>
            <a:r>
              <a:rPr lang="en-US" sz="3200" b="1" dirty="0">
                <a:solidFill>
                  <a:srgbClr val="111111"/>
                </a:solidFill>
                <a:latin typeface="Calibri" pitchFamily="34" charset="0"/>
                <a:ea typeface="Calibri" pitchFamily="34" charset="-122"/>
                <a:cs typeface="Calibri" pitchFamily="34" charset="-120"/>
              </a:rPr>
              <a:t>You only learn a campaign missed</a:t>
            </a:r>
            <a:endParaRPr lang="en-US" sz="3200" dirty="0"/>
          </a:p>
          <a:p>
            <a:pPr indent="0" marL="0">
              <a:buNone/>
            </a:pPr>
            <a:r>
              <a:rPr lang="en-US" sz="3200" b="1" dirty="0">
                <a:solidFill>
                  <a:srgbClr val="111111"/>
                </a:solidFill>
                <a:latin typeface="Calibri" pitchFamily="34" charset="0"/>
                <a:ea typeface="Calibri" pitchFamily="34" charset="-122"/>
                <a:cs typeface="Calibri" pitchFamily="34" charset="-120"/>
              </a:rPr>
              <a:t>after the money is gone.</a:t>
            </a:r>
            <a:endParaRPr lang="en-US" sz="3200" dirty="0"/>
          </a:p>
        </p:txBody>
      </p:sp>
      <p:sp>
        <p:nvSpPr>
          <p:cNvPr id="4" name="Shape 2"/>
          <p:cNvSpPr/>
          <p:nvPr/>
        </p:nvSpPr>
        <p:spPr>
          <a:xfrm>
            <a:off x="640080" y="2651760"/>
            <a:ext cx="3383280" cy="3291840"/>
          </a:xfrm>
          <a:prstGeom prst="roundRect">
            <a:avLst>
              <a:gd name="adj" fmla="val 2778"/>
            </a:avLst>
          </a:prstGeom>
          <a:solidFill>
            <a:srgbClr val="FAFAFA"/>
          </a:solidFill>
          <a:ln w="12700">
            <a:solidFill>
              <a:srgbClr val="E5E5E5"/>
            </a:solidFill>
            <a:prstDash val="solid"/>
          </a:ln>
        </p:spPr>
      </p:sp>
      <p:sp>
        <p:nvSpPr>
          <p:cNvPr id="5" name="Shape 3"/>
          <p:cNvSpPr/>
          <p:nvPr/>
        </p:nvSpPr>
        <p:spPr>
          <a:xfrm>
            <a:off x="960120" y="2926080"/>
            <a:ext cx="777240" cy="777240"/>
          </a:xfrm>
          <a:prstGeom prst="ellipse">
            <a:avLst/>
          </a:prstGeom>
          <a:solidFill>
            <a:srgbClr val="F97316"/>
          </a:solidFill>
          <a:ln/>
        </p:spPr>
      </p:sp>
      <p:sp>
        <p:nvSpPr>
          <p:cNvPr id="6" name="Text 4"/>
          <p:cNvSpPr/>
          <p:nvPr/>
        </p:nvSpPr>
        <p:spPr>
          <a:xfrm>
            <a:off x="960120" y="292608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960120" y="3840480"/>
            <a:ext cx="2743200" cy="64008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A/B tests cost real spend</a:t>
            </a:r>
            <a:endParaRPr lang="en-US" sz="1900" dirty="0"/>
          </a:p>
        </p:txBody>
      </p:sp>
      <p:sp>
        <p:nvSpPr>
          <p:cNvPr id="8" name="Text 6"/>
          <p:cNvSpPr/>
          <p:nvPr/>
        </p:nvSpPr>
        <p:spPr>
          <a:xfrm>
            <a:off x="960120" y="4526280"/>
            <a:ext cx="2788920" cy="1280160"/>
          </a:xfrm>
          <a:prstGeom prst="rect">
            <a:avLst/>
          </a:prstGeom>
          <a:noFill/>
          <a:ln/>
        </p:spPr>
        <p:txBody>
          <a:bodyPr wrap="square" rtlCol="0" anchor="ctr"/>
          <a:lstStyle/>
          <a:p>
            <a:pPr indent="0" marL="0">
              <a:lnSpc>
                <a:spcPct val="110000"/>
              </a:lnSpc>
              <a:buNone/>
            </a:pPr>
            <a:r>
              <a:rPr lang="en-US" sz="1400" dirty="0">
                <a:solidFill>
                  <a:srgbClr val="666666"/>
                </a:solidFill>
                <a:latin typeface="Calibri" pitchFamily="34" charset="0"/>
                <a:ea typeface="Calibri" pitchFamily="34" charset="-122"/>
                <a:cs typeface="Calibri" pitchFamily="34" charset="-120"/>
              </a:rPr>
              <a:t>Live experiments burn budget just to discover the message doesn't land.</a:t>
            </a:r>
            <a:endParaRPr lang="en-US" sz="1400" dirty="0"/>
          </a:p>
        </p:txBody>
      </p:sp>
      <p:sp>
        <p:nvSpPr>
          <p:cNvPr id="9" name="Shape 7"/>
          <p:cNvSpPr/>
          <p:nvPr/>
        </p:nvSpPr>
        <p:spPr>
          <a:xfrm>
            <a:off x="4389120" y="2651760"/>
            <a:ext cx="3383280" cy="3291840"/>
          </a:xfrm>
          <a:prstGeom prst="roundRect">
            <a:avLst>
              <a:gd name="adj" fmla="val 2778"/>
            </a:avLst>
          </a:prstGeom>
          <a:solidFill>
            <a:srgbClr val="FAFAFA"/>
          </a:solidFill>
          <a:ln w="12700">
            <a:solidFill>
              <a:srgbClr val="E5E5E5"/>
            </a:solidFill>
            <a:prstDash val="solid"/>
          </a:ln>
        </p:spPr>
      </p:sp>
      <p:sp>
        <p:nvSpPr>
          <p:cNvPr id="10" name="Shape 8"/>
          <p:cNvSpPr/>
          <p:nvPr/>
        </p:nvSpPr>
        <p:spPr>
          <a:xfrm>
            <a:off x="4709160" y="2926080"/>
            <a:ext cx="777240" cy="777240"/>
          </a:xfrm>
          <a:prstGeom prst="ellipse">
            <a:avLst/>
          </a:prstGeom>
          <a:solidFill>
            <a:srgbClr val="F97316"/>
          </a:solidFill>
          <a:ln/>
        </p:spPr>
      </p:sp>
      <p:sp>
        <p:nvSpPr>
          <p:cNvPr id="11" name="Text 9"/>
          <p:cNvSpPr/>
          <p:nvPr/>
        </p:nvSpPr>
        <p:spPr>
          <a:xfrm>
            <a:off x="4709160" y="292608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4709160" y="3840480"/>
            <a:ext cx="2743200" cy="64008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Focus groups are small &amp; slow</a:t>
            </a:r>
            <a:endParaRPr lang="en-US" sz="1900" dirty="0"/>
          </a:p>
        </p:txBody>
      </p:sp>
      <p:sp>
        <p:nvSpPr>
          <p:cNvPr id="13" name="Text 11"/>
          <p:cNvSpPr/>
          <p:nvPr/>
        </p:nvSpPr>
        <p:spPr>
          <a:xfrm>
            <a:off x="4709160" y="4526280"/>
            <a:ext cx="2788920" cy="1280160"/>
          </a:xfrm>
          <a:prstGeom prst="rect">
            <a:avLst/>
          </a:prstGeom>
          <a:noFill/>
          <a:ln/>
        </p:spPr>
        <p:txBody>
          <a:bodyPr wrap="square" rtlCol="0" anchor="ctr"/>
          <a:lstStyle/>
          <a:p>
            <a:pPr indent="0" marL="0">
              <a:lnSpc>
                <a:spcPct val="110000"/>
              </a:lnSpc>
              <a:buNone/>
            </a:pPr>
            <a:r>
              <a:rPr lang="en-US" sz="1400" dirty="0">
                <a:solidFill>
                  <a:srgbClr val="666666"/>
                </a:solidFill>
                <a:latin typeface="Calibri" pitchFamily="34" charset="0"/>
                <a:ea typeface="Calibri" pitchFamily="34" charset="-122"/>
                <a:cs typeface="Calibri" pitchFamily="34" charset="-120"/>
              </a:rPr>
              <a:t>A handful of people, days of scheduling, and they know they're being watched.</a:t>
            </a:r>
            <a:endParaRPr lang="en-US" sz="1400" dirty="0"/>
          </a:p>
        </p:txBody>
      </p:sp>
      <p:sp>
        <p:nvSpPr>
          <p:cNvPr id="14" name="Shape 12"/>
          <p:cNvSpPr/>
          <p:nvPr/>
        </p:nvSpPr>
        <p:spPr>
          <a:xfrm>
            <a:off x="8138160" y="2651760"/>
            <a:ext cx="3383280" cy="3291840"/>
          </a:xfrm>
          <a:prstGeom prst="roundRect">
            <a:avLst>
              <a:gd name="adj" fmla="val 2778"/>
            </a:avLst>
          </a:prstGeom>
          <a:solidFill>
            <a:srgbClr val="FAFAFA"/>
          </a:solidFill>
          <a:ln w="12700">
            <a:solidFill>
              <a:srgbClr val="E5E5E5"/>
            </a:solidFill>
            <a:prstDash val="solid"/>
          </a:ln>
        </p:spPr>
      </p:sp>
      <p:sp>
        <p:nvSpPr>
          <p:cNvPr id="15" name="Shape 13"/>
          <p:cNvSpPr/>
          <p:nvPr/>
        </p:nvSpPr>
        <p:spPr>
          <a:xfrm>
            <a:off x="8458200" y="2926080"/>
            <a:ext cx="777240" cy="777240"/>
          </a:xfrm>
          <a:prstGeom prst="ellipse">
            <a:avLst/>
          </a:prstGeom>
          <a:solidFill>
            <a:srgbClr val="F97316"/>
          </a:solidFill>
          <a:ln/>
        </p:spPr>
      </p:sp>
      <p:sp>
        <p:nvSpPr>
          <p:cNvPr id="16" name="Text 14"/>
          <p:cNvSpPr/>
          <p:nvPr/>
        </p:nvSpPr>
        <p:spPr>
          <a:xfrm>
            <a:off x="8458200" y="292608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8458200" y="3840480"/>
            <a:ext cx="2743200" cy="640080"/>
          </a:xfrm>
          <a:prstGeom prst="rect">
            <a:avLst/>
          </a:prstGeom>
          <a:noFill/>
          <a:ln/>
        </p:spPr>
        <p:txBody>
          <a:bodyPr wrap="square" rtlCol="0" anchor="ctr"/>
          <a:lstStyle/>
          <a:p>
            <a:pPr indent="0" marL="0">
              <a:buNone/>
            </a:pPr>
            <a:r>
              <a:rPr lang="en-US" sz="1900" b="1" dirty="0">
                <a:solidFill>
                  <a:srgbClr val="111111"/>
                </a:solidFill>
                <a:latin typeface="Calibri" pitchFamily="34" charset="0"/>
                <a:ea typeface="Calibri" pitchFamily="34" charset="-122"/>
                <a:cs typeface="Calibri" pitchFamily="34" charset="-120"/>
              </a:rPr>
              <a:t>No view of virality</a:t>
            </a:r>
            <a:endParaRPr lang="en-US" sz="1900" dirty="0"/>
          </a:p>
        </p:txBody>
      </p:sp>
      <p:sp>
        <p:nvSpPr>
          <p:cNvPr id="18" name="Text 16"/>
          <p:cNvSpPr/>
          <p:nvPr/>
        </p:nvSpPr>
        <p:spPr>
          <a:xfrm>
            <a:off x="8458200" y="4526280"/>
            <a:ext cx="2788920" cy="1280160"/>
          </a:xfrm>
          <a:prstGeom prst="rect">
            <a:avLst/>
          </a:prstGeom>
          <a:noFill/>
          <a:ln/>
        </p:spPr>
        <p:txBody>
          <a:bodyPr wrap="square" rtlCol="0" anchor="ctr"/>
          <a:lstStyle/>
          <a:p>
            <a:pPr indent="0" marL="0">
              <a:lnSpc>
                <a:spcPct val="110000"/>
              </a:lnSpc>
              <a:buNone/>
            </a:pPr>
            <a:r>
              <a:rPr lang="en-US" sz="1400" dirty="0">
                <a:solidFill>
                  <a:srgbClr val="666666"/>
                </a:solidFill>
                <a:latin typeface="Calibri" pitchFamily="34" charset="0"/>
                <a:ea typeface="Calibri" pitchFamily="34" charset="-122"/>
                <a:cs typeface="Calibri" pitchFamily="34" charset="-120"/>
              </a:rPr>
              <a:t>You can't see how a message spreads, mutates, or stalls across a feed.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45720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How it works</a:t>
            </a:r>
            <a:endParaRPr lang="en-US" sz="1500" dirty="0"/>
          </a:p>
        </p:txBody>
      </p:sp>
      <p:sp>
        <p:nvSpPr>
          <p:cNvPr id="3" name="Text 1"/>
          <p:cNvSpPr/>
          <p:nvPr/>
        </p:nvSpPr>
        <p:spPr>
          <a:xfrm>
            <a:off x="640080" y="868680"/>
            <a:ext cx="82296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 five-stage pipeline</a:t>
            </a:r>
            <a:endParaRPr lang="en-US" sz="3000" dirty="0"/>
          </a:p>
        </p:txBody>
      </p:sp>
      <p:sp>
        <p:nvSpPr>
          <p:cNvPr id="4" name="Shape 2"/>
          <p:cNvSpPr/>
          <p:nvPr/>
        </p:nvSpPr>
        <p:spPr>
          <a:xfrm>
            <a:off x="640080" y="1920240"/>
            <a:ext cx="2121408" cy="4206240"/>
          </a:xfrm>
          <a:prstGeom prst="roundRect">
            <a:avLst>
              <a:gd name="adj" fmla="val 4310"/>
            </a:avLst>
          </a:prstGeom>
          <a:solidFill>
            <a:srgbClr val="1C1C1C"/>
          </a:solidFill>
          <a:ln/>
        </p:spPr>
      </p:sp>
      <p:sp>
        <p:nvSpPr>
          <p:cNvPr id="5" name="Shape 3"/>
          <p:cNvSpPr/>
          <p:nvPr/>
        </p:nvSpPr>
        <p:spPr>
          <a:xfrm>
            <a:off x="822960" y="2148840"/>
            <a:ext cx="640080" cy="640080"/>
          </a:xfrm>
          <a:prstGeom prst="ellipse">
            <a:avLst/>
          </a:prstGeom>
          <a:solidFill>
            <a:srgbClr val="F97316"/>
          </a:solidFill>
          <a:ln/>
        </p:spPr>
      </p:sp>
      <p:sp>
        <p:nvSpPr>
          <p:cNvPr id="6" name="Text 4"/>
          <p:cNvSpPr/>
          <p:nvPr/>
        </p:nvSpPr>
        <p:spPr>
          <a:xfrm>
            <a:off x="822960" y="21488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04672" y="2926080"/>
            <a:ext cx="1810512" cy="77724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Graph building</a:t>
            </a:r>
            <a:endParaRPr lang="en-US" sz="1650" dirty="0"/>
          </a:p>
        </p:txBody>
      </p:sp>
      <p:sp>
        <p:nvSpPr>
          <p:cNvPr id="8" name="Text 6"/>
          <p:cNvSpPr/>
          <p:nvPr/>
        </p:nvSpPr>
        <p:spPr>
          <a:xfrm>
            <a:off x="804672" y="3611880"/>
            <a:ext cx="1810512" cy="2377440"/>
          </a:xfrm>
          <a:prstGeom prst="rect">
            <a:avLst/>
          </a:prstGeom>
          <a:noFill/>
          <a:ln/>
        </p:spPr>
        <p:txBody>
          <a:bodyPr wrap="square" rtlCol="0" anchor="ctr"/>
          <a:lstStyle/>
          <a:p>
            <a:pPr indent="0" marL="0">
              <a:lnSpc>
                <a:spcPct val="110000"/>
              </a:lnSpc>
              <a:buNone/>
            </a:pPr>
            <a:r>
              <a:rPr lang="en-US" sz="1200" dirty="0">
                <a:solidFill>
                  <a:srgbClr val="CFCFCF"/>
                </a:solidFill>
                <a:latin typeface="Calibri" pitchFamily="34" charset="0"/>
                <a:ea typeface="Calibri" pitchFamily="34" charset="-122"/>
                <a:cs typeface="Calibri" pitchFamily="34" charset="-120"/>
              </a:rPr>
              <a:t>Brief + creative (PDF/MD/TXT) extracted into a Zep Cloud GraphRAG knowledge graph. Optionally grounded with real Reddit/Threads discussion.</a:t>
            </a:r>
            <a:endParaRPr lang="en-US" sz="1200" dirty="0"/>
          </a:p>
        </p:txBody>
      </p:sp>
      <p:sp>
        <p:nvSpPr>
          <p:cNvPr id="9" name="Shape 7"/>
          <p:cNvSpPr/>
          <p:nvPr/>
        </p:nvSpPr>
        <p:spPr>
          <a:xfrm>
            <a:off x="2889504" y="1920240"/>
            <a:ext cx="2121408" cy="4206240"/>
          </a:xfrm>
          <a:prstGeom prst="roundRect">
            <a:avLst>
              <a:gd name="adj" fmla="val 4310"/>
            </a:avLst>
          </a:prstGeom>
          <a:solidFill>
            <a:srgbClr val="1C1C1C"/>
          </a:solidFill>
          <a:ln/>
        </p:spPr>
      </p:sp>
      <p:sp>
        <p:nvSpPr>
          <p:cNvPr id="10" name="Shape 8"/>
          <p:cNvSpPr/>
          <p:nvPr/>
        </p:nvSpPr>
        <p:spPr>
          <a:xfrm>
            <a:off x="3072384" y="2148840"/>
            <a:ext cx="640080" cy="640080"/>
          </a:xfrm>
          <a:prstGeom prst="ellipse">
            <a:avLst/>
          </a:prstGeom>
          <a:solidFill>
            <a:srgbClr val="F97316"/>
          </a:solidFill>
          <a:ln/>
        </p:spPr>
      </p:sp>
      <p:sp>
        <p:nvSpPr>
          <p:cNvPr id="11" name="Text 9"/>
          <p:cNvSpPr/>
          <p:nvPr/>
        </p:nvSpPr>
        <p:spPr>
          <a:xfrm>
            <a:off x="3072384" y="21488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054096" y="2926080"/>
            <a:ext cx="1810512" cy="77724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Audience setup</a:t>
            </a:r>
            <a:endParaRPr lang="en-US" sz="1650" dirty="0"/>
          </a:p>
        </p:txBody>
      </p:sp>
      <p:sp>
        <p:nvSpPr>
          <p:cNvPr id="13" name="Text 11"/>
          <p:cNvSpPr/>
          <p:nvPr/>
        </p:nvSpPr>
        <p:spPr>
          <a:xfrm>
            <a:off x="3054096" y="3611880"/>
            <a:ext cx="1810512" cy="2377440"/>
          </a:xfrm>
          <a:prstGeom prst="rect">
            <a:avLst/>
          </a:prstGeom>
          <a:noFill/>
          <a:ln/>
        </p:spPr>
        <p:txBody>
          <a:bodyPr wrap="square" rtlCol="0" anchor="ctr"/>
          <a:lstStyle/>
          <a:p>
            <a:pPr indent="0" marL="0">
              <a:lnSpc>
                <a:spcPct val="110000"/>
              </a:lnSpc>
              <a:buNone/>
            </a:pPr>
            <a:r>
              <a:rPr lang="en-US" sz="1200" dirty="0">
                <a:solidFill>
                  <a:srgbClr val="CFCFCF"/>
                </a:solidFill>
                <a:latin typeface="Calibri" pitchFamily="34" charset="0"/>
                <a:ea typeface="Calibri" pitchFamily="34" charset="-122"/>
                <a:cs typeface="Calibri" pitchFamily="34" charset="-120"/>
              </a:rPr>
              <a:t>Graph entities become buyer personas — demographics, needs, brand attitude, purchase &amp; media habits.</a:t>
            </a:r>
            <a:endParaRPr lang="en-US" sz="1200" dirty="0"/>
          </a:p>
        </p:txBody>
      </p:sp>
      <p:sp>
        <p:nvSpPr>
          <p:cNvPr id="14" name="Shape 12"/>
          <p:cNvSpPr/>
          <p:nvPr/>
        </p:nvSpPr>
        <p:spPr>
          <a:xfrm>
            <a:off x="5138928" y="1920240"/>
            <a:ext cx="2121408" cy="4206240"/>
          </a:xfrm>
          <a:prstGeom prst="roundRect">
            <a:avLst>
              <a:gd name="adj" fmla="val 4310"/>
            </a:avLst>
          </a:prstGeom>
          <a:solidFill>
            <a:srgbClr val="1C1C1C"/>
          </a:solidFill>
          <a:ln/>
        </p:spPr>
      </p:sp>
      <p:sp>
        <p:nvSpPr>
          <p:cNvPr id="15" name="Shape 13"/>
          <p:cNvSpPr/>
          <p:nvPr/>
        </p:nvSpPr>
        <p:spPr>
          <a:xfrm>
            <a:off x="5321808" y="2148840"/>
            <a:ext cx="640080" cy="640080"/>
          </a:xfrm>
          <a:prstGeom prst="ellipse">
            <a:avLst/>
          </a:prstGeom>
          <a:solidFill>
            <a:srgbClr val="F59E0B"/>
          </a:solidFill>
          <a:ln/>
        </p:spPr>
      </p:sp>
      <p:sp>
        <p:nvSpPr>
          <p:cNvPr id="16" name="Text 14"/>
          <p:cNvSpPr/>
          <p:nvPr/>
        </p:nvSpPr>
        <p:spPr>
          <a:xfrm>
            <a:off x="5321808" y="2148840"/>
            <a:ext cx="640080" cy="640080"/>
          </a:xfrm>
          <a:prstGeom prst="rect">
            <a:avLst/>
          </a:prstGeom>
          <a:noFill/>
          <a:ln/>
        </p:spPr>
        <p:txBody>
          <a:bodyPr wrap="square" rtlCol="0" anchor="ctr"/>
          <a:lstStyle/>
          <a:p>
            <a:pPr algn="ctr" indent="0" marL="0">
              <a:buNone/>
            </a:pPr>
            <a:r>
              <a:rPr lang="en-US" sz="2200" b="1" dirty="0">
                <a:solidFill>
                  <a:srgbClr val="111111"/>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5303520" y="2926080"/>
            <a:ext cx="1810512" cy="77724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Simulation</a:t>
            </a:r>
            <a:endParaRPr lang="en-US" sz="1650" dirty="0"/>
          </a:p>
        </p:txBody>
      </p:sp>
      <p:sp>
        <p:nvSpPr>
          <p:cNvPr id="18" name="Text 16"/>
          <p:cNvSpPr/>
          <p:nvPr/>
        </p:nvSpPr>
        <p:spPr>
          <a:xfrm>
            <a:off x="5303520" y="3611880"/>
            <a:ext cx="1810512" cy="2377440"/>
          </a:xfrm>
          <a:prstGeom prst="rect">
            <a:avLst/>
          </a:prstGeom>
          <a:noFill/>
          <a:ln/>
        </p:spPr>
        <p:txBody>
          <a:bodyPr wrap="square" rtlCol="0" anchor="ctr"/>
          <a:lstStyle/>
          <a:p>
            <a:pPr indent="0" marL="0">
              <a:lnSpc>
                <a:spcPct val="110000"/>
              </a:lnSpc>
              <a:buNone/>
            </a:pPr>
            <a:r>
              <a:rPr lang="en-US" sz="1200" dirty="0">
                <a:solidFill>
                  <a:srgbClr val="CFCFCF"/>
                </a:solidFill>
                <a:latin typeface="Calibri" pitchFamily="34" charset="0"/>
                <a:ea typeface="Calibri" pitchFamily="34" charset="-122"/>
                <a:cs typeface="Calibri" pitchFamily="34" charset="-120"/>
              </a:rPr>
              <a:t>Creative seeded into simulated Twitter + Reddit feeds; audience agents react over N rounds (OASIS).</a:t>
            </a:r>
            <a:endParaRPr lang="en-US" sz="1200" dirty="0"/>
          </a:p>
        </p:txBody>
      </p:sp>
      <p:sp>
        <p:nvSpPr>
          <p:cNvPr id="19" name="Shape 17"/>
          <p:cNvSpPr/>
          <p:nvPr/>
        </p:nvSpPr>
        <p:spPr>
          <a:xfrm>
            <a:off x="7388352" y="1920240"/>
            <a:ext cx="2121408" cy="4206240"/>
          </a:xfrm>
          <a:prstGeom prst="roundRect">
            <a:avLst>
              <a:gd name="adj" fmla="val 4310"/>
            </a:avLst>
          </a:prstGeom>
          <a:solidFill>
            <a:srgbClr val="1C1C1C"/>
          </a:solidFill>
          <a:ln/>
        </p:spPr>
      </p:sp>
      <p:sp>
        <p:nvSpPr>
          <p:cNvPr id="20" name="Shape 18"/>
          <p:cNvSpPr/>
          <p:nvPr/>
        </p:nvSpPr>
        <p:spPr>
          <a:xfrm>
            <a:off x="7571232" y="2148840"/>
            <a:ext cx="640080" cy="640080"/>
          </a:xfrm>
          <a:prstGeom prst="ellipse">
            <a:avLst/>
          </a:prstGeom>
          <a:solidFill>
            <a:srgbClr val="F97316"/>
          </a:solidFill>
          <a:ln/>
        </p:spPr>
      </p:sp>
      <p:sp>
        <p:nvSpPr>
          <p:cNvPr id="21" name="Text 19"/>
          <p:cNvSpPr/>
          <p:nvPr/>
        </p:nvSpPr>
        <p:spPr>
          <a:xfrm>
            <a:off x="7571232" y="21488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7552944" y="2926080"/>
            <a:ext cx="1810512" cy="77724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KPI measurement</a:t>
            </a:r>
            <a:endParaRPr lang="en-US" sz="1650" dirty="0"/>
          </a:p>
        </p:txBody>
      </p:sp>
      <p:sp>
        <p:nvSpPr>
          <p:cNvPr id="23" name="Text 21"/>
          <p:cNvSpPr/>
          <p:nvPr/>
        </p:nvSpPr>
        <p:spPr>
          <a:xfrm>
            <a:off x="7552944" y="3611880"/>
            <a:ext cx="1810512" cy="2377440"/>
          </a:xfrm>
          <a:prstGeom prst="rect">
            <a:avLst/>
          </a:prstGeom>
          <a:noFill/>
          <a:ln/>
        </p:spPr>
        <p:txBody>
          <a:bodyPr wrap="square" rtlCol="0" anchor="ctr"/>
          <a:lstStyle/>
          <a:p>
            <a:pPr indent="0" marL="0">
              <a:lnSpc>
                <a:spcPct val="110000"/>
              </a:lnSpc>
              <a:buNone/>
            </a:pPr>
            <a:r>
              <a:rPr lang="en-US" sz="1200" dirty="0">
                <a:solidFill>
                  <a:srgbClr val="CFCFCF"/>
                </a:solidFill>
                <a:latin typeface="Calibri" pitchFamily="34" charset="0"/>
                <a:ea typeface="Calibri" pitchFamily="34" charset="-122"/>
                <a:cs typeface="Calibri" pitchFamily="34" charset="-120"/>
              </a:rPr>
              <a:t>Every agent action logged and counted into marketing KPIs — not LLM-estimated.</a:t>
            </a:r>
            <a:endParaRPr lang="en-US" sz="1200" dirty="0"/>
          </a:p>
        </p:txBody>
      </p:sp>
      <p:sp>
        <p:nvSpPr>
          <p:cNvPr id="24" name="Shape 22"/>
          <p:cNvSpPr/>
          <p:nvPr/>
        </p:nvSpPr>
        <p:spPr>
          <a:xfrm>
            <a:off x="9637776" y="1920240"/>
            <a:ext cx="2121408" cy="4206240"/>
          </a:xfrm>
          <a:prstGeom prst="roundRect">
            <a:avLst>
              <a:gd name="adj" fmla="val 4310"/>
            </a:avLst>
          </a:prstGeom>
          <a:solidFill>
            <a:srgbClr val="1C1C1C"/>
          </a:solidFill>
          <a:ln/>
        </p:spPr>
      </p:sp>
      <p:sp>
        <p:nvSpPr>
          <p:cNvPr id="25" name="Shape 23"/>
          <p:cNvSpPr/>
          <p:nvPr/>
        </p:nvSpPr>
        <p:spPr>
          <a:xfrm>
            <a:off x="9820656" y="2148840"/>
            <a:ext cx="640080" cy="640080"/>
          </a:xfrm>
          <a:prstGeom prst="ellipse">
            <a:avLst/>
          </a:prstGeom>
          <a:solidFill>
            <a:srgbClr val="F97316"/>
          </a:solidFill>
          <a:ln/>
        </p:spPr>
      </p:sp>
      <p:sp>
        <p:nvSpPr>
          <p:cNvPr id="26" name="Text 24"/>
          <p:cNvSpPr/>
          <p:nvPr/>
        </p:nvSpPr>
        <p:spPr>
          <a:xfrm>
            <a:off x="9820656" y="21488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9802368" y="2926080"/>
            <a:ext cx="1810512" cy="77724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Report</a:t>
            </a:r>
            <a:endParaRPr lang="en-US" sz="1650" dirty="0"/>
          </a:p>
        </p:txBody>
      </p:sp>
      <p:sp>
        <p:nvSpPr>
          <p:cNvPr id="28" name="Text 26"/>
          <p:cNvSpPr/>
          <p:nvPr/>
        </p:nvSpPr>
        <p:spPr>
          <a:xfrm>
            <a:off x="9802368" y="3611880"/>
            <a:ext cx="1810512" cy="2377440"/>
          </a:xfrm>
          <a:prstGeom prst="rect">
            <a:avLst/>
          </a:prstGeom>
          <a:noFill/>
          <a:ln/>
        </p:spPr>
        <p:txBody>
          <a:bodyPr wrap="square" rtlCol="0" anchor="ctr"/>
          <a:lstStyle/>
          <a:p>
            <a:pPr indent="0" marL="0">
              <a:lnSpc>
                <a:spcPct val="110000"/>
              </a:lnSpc>
              <a:buNone/>
            </a:pPr>
            <a:r>
              <a:rPr lang="en-US" sz="1200" dirty="0">
                <a:solidFill>
                  <a:srgbClr val="CFCFCF"/>
                </a:solidFill>
                <a:latin typeface="Calibri" pitchFamily="34" charset="0"/>
                <a:ea typeface="Calibri" pitchFamily="34" charset="-122"/>
                <a:cs typeface="Calibri" pitchFamily="34" charset="-120"/>
              </a:rPr>
              <a:t>A ReportAgent writes the assessment. Then chat with it, or interview individual personas.</a:t>
            </a:r>
            <a:endParaRPr lang="en-US" sz="1200" dirty="0"/>
          </a:p>
        </p:txBody>
      </p:sp>
      <p:sp>
        <p:nvSpPr>
          <p:cNvPr id="29" name="Text 27"/>
          <p:cNvSpPr/>
          <p:nvPr/>
        </p:nvSpPr>
        <p:spPr>
          <a:xfrm>
            <a:off x="640080" y="6355080"/>
            <a:ext cx="10972800" cy="365760"/>
          </a:xfrm>
          <a:prstGeom prst="rect">
            <a:avLst/>
          </a:prstGeom>
          <a:noFill/>
          <a:ln/>
        </p:spPr>
        <p:txBody>
          <a:bodyPr wrap="square" rtlCol="0" anchor="ctr"/>
          <a:lstStyle/>
          <a:p>
            <a:pPr indent="0" marL="0">
              <a:buNone/>
            </a:pPr>
            <a:r>
              <a:rPr lang="en-US" sz="1250" i="1" dirty="0">
                <a:solidFill>
                  <a:srgbClr val="8A8A8A"/>
                </a:solidFill>
                <a:latin typeface="Calibri" pitchFamily="34" charset="0"/>
                <a:ea typeface="Calibri" pitchFamily="34" charset="-122"/>
                <a:cs typeface="Calibri" pitchFamily="34" charset="-120"/>
              </a:rPr>
              <a:t>Frontend mirrors these as Step 1 → Step 5 in the workbench</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Architecture</a:t>
            </a:r>
            <a:endParaRPr lang="en-US" sz="1500" dirty="0"/>
          </a:p>
        </p:txBody>
      </p:sp>
      <p:sp>
        <p:nvSpPr>
          <p:cNvPr id="3" name="Text 1"/>
          <p:cNvSpPr/>
          <p:nvPr/>
        </p:nvSpPr>
        <p:spPr>
          <a:xfrm>
            <a:off x="640080" y="914400"/>
            <a:ext cx="8229600" cy="731520"/>
          </a:xfrm>
          <a:prstGeom prst="rect">
            <a:avLst/>
          </a:prstGeom>
          <a:noFill/>
          <a:ln/>
        </p:spPr>
        <p:txBody>
          <a:bodyPr wrap="square" rtlCol="0" anchor="ctr"/>
          <a:lstStyle/>
          <a:p>
            <a:pPr indent="0" marL="0">
              <a:buNone/>
            </a:pPr>
            <a:r>
              <a:rPr lang="en-US" sz="3000" b="1" dirty="0">
                <a:solidFill>
                  <a:srgbClr val="111111"/>
                </a:solidFill>
                <a:latin typeface="Calibri" pitchFamily="34" charset="0"/>
                <a:ea typeface="Calibri" pitchFamily="34" charset="-122"/>
                <a:cs typeface="Calibri" pitchFamily="34" charset="-120"/>
              </a:rPr>
              <a:t>How the pieces fit</a:t>
            </a:r>
            <a:endParaRPr lang="en-US" sz="3000" dirty="0"/>
          </a:p>
        </p:txBody>
      </p:sp>
      <p:sp>
        <p:nvSpPr>
          <p:cNvPr id="4" name="Shape 2"/>
          <p:cNvSpPr/>
          <p:nvPr/>
        </p:nvSpPr>
        <p:spPr>
          <a:xfrm>
            <a:off x="640080" y="2194560"/>
            <a:ext cx="2926080" cy="1371600"/>
          </a:xfrm>
          <a:prstGeom prst="roundRect">
            <a:avLst>
              <a:gd name="adj" fmla="val 6667"/>
            </a:avLst>
          </a:prstGeom>
          <a:solidFill>
            <a:srgbClr val="111111"/>
          </a:solidFill>
          <a:ln/>
        </p:spPr>
      </p:sp>
      <p:sp>
        <p:nvSpPr>
          <p:cNvPr id="5" name="Text 3"/>
          <p:cNvSpPr/>
          <p:nvPr/>
        </p:nvSpPr>
        <p:spPr>
          <a:xfrm>
            <a:off x="777240" y="2359152"/>
            <a:ext cx="265176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p:txBody>
      </p:sp>
      <p:sp>
        <p:nvSpPr>
          <p:cNvPr id="6" name="Text 4"/>
          <p:cNvSpPr/>
          <p:nvPr/>
        </p:nvSpPr>
        <p:spPr>
          <a:xfrm>
            <a:off x="777240" y="2852928"/>
            <a:ext cx="2651760" cy="594360"/>
          </a:xfrm>
          <a:prstGeom prst="rect">
            <a:avLst/>
          </a:prstGeom>
          <a:noFill/>
          <a:ln/>
        </p:spPr>
        <p:txBody>
          <a:bodyPr wrap="square" rtlCol="0" anchor="ctr"/>
          <a:lstStyle/>
          <a:p>
            <a:pPr algn="ctr" indent="0" marL="0">
              <a:lnSpc>
                <a:spcPct val="105000"/>
              </a:lnSpc>
              <a:buNone/>
            </a:pPr>
            <a:r>
              <a:rPr lang="en-US" sz="1200" dirty="0">
                <a:solidFill>
                  <a:srgbClr val="CFCFCF"/>
                </a:solidFill>
                <a:latin typeface="Calibri" pitchFamily="34" charset="0"/>
                <a:ea typeface="Calibri" pitchFamily="34" charset="-122"/>
                <a:cs typeface="Calibri" pitchFamily="34" charset="-120"/>
              </a:rPr>
              <a:t>Vue 3 + Vite</a:t>
            </a:r>
            <a:endParaRPr lang="en-US" sz="1200" dirty="0"/>
          </a:p>
          <a:p>
            <a:pPr algn="ctr" indent="0" marL="0">
              <a:lnSpc>
                <a:spcPct val="105000"/>
              </a:lnSpc>
              <a:buNone/>
            </a:pPr>
            <a:r>
              <a:rPr lang="en-US" sz="1200" dirty="0">
                <a:solidFill>
                  <a:srgbClr val="CFCFCF"/>
                </a:solidFill>
                <a:latin typeface="Calibri" pitchFamily="34" charset="0"/>
                <a:ea typeface="Calibri" pitchFamily="34" charset="-122"/>
                <a:cs typeface="Calibri" pitchFamily="34" charset="-120"/>
              </a:rPr>
              <a:t>5-step workbench, feed board,</a:t>
            </a:r>
            <a:endParaRPr lang="en-US" sz="1200" dirty="0"/>
          </a:p>
          <a:p>
            <a:pPr algn="ctr" indent="0" marL="0">
              <a:lnSpc>
                <a:spcPct val="105000"/>
              </a:lnSpc>
              <a:buNone/>
            </a:pPr>
            <a:r>
              <a:rPr lang="en-US" sz="1200" dirty="0">
                <a:solidFill>
                  <a:srgbClr val="CFCFCF"/>
                </a:solidFill>
                <a:latin typeface="Calibri" pitchFamily="34" charset="0"/>
                <a:ea typeface="Calibri" pitchFamily="34" charset="-122"/>
                <a:cs typeface="Calibri" pitchFamily="34" charset="-120"/>
              </a:rPr>
              <a:t>KPI &amp; graph panels</a:t>
            </a:r>
            <a:endParaRPr lang="en-US" sz="1200" dirty="0"/>
          </a:p>
        </p:txBody>
      </p:sp>
      <p:sp>
        <p:nvSpPr>
          <p:cNvPr id="7" name="Text 5"/>
          <p:cNvSpPr/>
          <p:nvPr/>
        </p:nvSpPr>
        <p:spPr>
          <a:xfrm>
            <a:off x="3611880" y="2560320"/>
            <a:ext cx="548640" cy="640080"/>
          </a:xfrm>
          <a:prstGeom prst="rect">
            <a:avLst/>
          </a:prstGeom>
          <a:noFill/>
          <a:ln/>
        </p:spPr>
        <p:txBody>
          <a:bodyPr wrap="square" rtlCol="0" anchor="ctr"/>
          <a:lstStyle/>
          <a:p>
            <a:pPr algn="ctr" indent="0" marL="0">
              <a:buNone/>
            </a:pPr>
            <a:r>
              <a:rPr lang="en-US" sz="3000" b="1" dirty="0">
                <a:solidFill>
                  <a:srgbClr val="F97316"/>
                </a:solidFill>
                <a:latin typeface="Calibri" pitchFamily="34" charset="0"/>
                <a:ea typeface="Calibri" pitchFamily="34" charset="-122"/>
                <a:cs typeface="Calibri" pitchFamily="34" charset="-120"/>
              </a:rPr>
              <a:t>→</a:t>
            </a:r>
            <a:endParaRPr lang="en-US" sz="3000" dirty="0"/>
          </a:p>
        </p:txBody>
      </p:sp>
      <p:sp>
        <p:nvSpPr>
          <p:cNvPr id="8" name="Shape 6"/>
          <p:cNvSpPr/>
          <p:nvPr/>
        </p:nvSpPr>
        <p:spPr>
          <a:xfrm>
            <a:off x="4160520" y="2194560"/>
            <a:ext cx="3017520" cy="1371600"/>
          </a:xfrm>
          <a:prstGeom prst="roundRect">
            <a:avLst>
              <a:gd name="adj" fmla="val 6667"/>
            </a:avLst>
          </a:prstGeom>
          <a:solidFill>
            <a:srgbClr val="F97316"/>
          </a:solidFill>
          <a:ln/>
        </p:spPr>
      </p:sp>
      <p:sp>
        <p:nvSpPr>
          <p:cNvPr id="9" name="Text 7"/>
          <p:cNvSpPr/>
          <p:nvPr/>
        </p:nvSpPr>
        <p:spPr>
          <a:xfrm>
            <a:off x="4297680" y="2359152"/>
            <a:ext cx="2743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Backend</a:t>
            </a:r>
            <a:endParaRPr lang="en-US" sz="1600" dirty="0"/>
          </a:p>
        </p:txBody>
      </p:sp>
      <p:sp>
        <p:nvSpPr>
          <p:cNvPr id="10" name="Text 8"/>
          <p:cNvSpPr/>
          <p:nvPr/>
        </p:nvSpPr>
        <p:spPr>
          <a:xfrm>
            <a:off x="4297680" y="2852928"/>
            <a:ext cx="2743200" cy="594360"/>
          </a:xfrm>
          <a:prstGeom prst="rect">
            <a:avLst/>
          </a:prstGeom>
          <a:noFill/>
          <a:ln/>
        </p:spPr>
        <p:txBody>
          <a:bodyPr wrap="square" rtlCol="0" anchor="ctr"/>
          <a:lstStyle/>
          <a:p>
            <a:pPr algn="ctr" indent="0" marL="0">
              <a:lnSpc>
                <a:spcPct val="105000"/>
              </a:lnSpc>
              <a:buNone/>
            </a:pPr>
            <a:r>
              <a:rPr lang="en-US" sz="1200" dirty="0">
                <a:solidFill>
                  <a:srgbClr val="CFCFCF"/>
                </a:solidFill>
                <a:latin typeface="Calibri" pitchFamily="34" charset="0"/>
                <a:ea typeface="Calibri" pitchFamily="34" charset="-122"/>
                <a:cs typeface="Calibri" pitchFamily="34" charset="-120"/>
              </a:rPr>
              <a:t>Flask REST API</a:t>
            </a:r>
            <a:endParaRPr lang="en-US" sz="1200" dirty="0"/>
          </a:p>
          <a:p>
            <a:pPr algn="ctr" indent="0" marL="0">
              <a:lnSpc>
                <a:spcPct val="105000"/>
              </a:lnSpc>
              <a:buNone/>
            </a:pPr>
            <a:r>
              <a:rPr lang="en-US" sz="1200" dirty="0">
                <a:solidFill>
                  <a:srgbClr val="CFCFCF"/>
                </a:solidFill>
                <a:latin typeface="Calibri" pitchFamily="34" charset="0"/>
                <a:ea typeface="Calibri" pitchFamily="34" charset="-122"/>
                <a:cs typeface="Calibri" pitchFamily="34" charset="-120"/>
              </a:rPr>
              <a:t>Pipeline orchestration,</a:t>
            </a:r>
            <a:endParaRPr lang="en-US" sz="1200" dirty="0"/>
          </a:p>
          <a:p>
            <a:pPr algn="ctr" indent="0" marL="0">
              <a:lnSpc>
                <a:spcPct val="105000"/>
              </a:lnSpc>
              <a:buNone/>
            </a:pPr>
            <a:r>
              <a:rPr lang="en-US" sz="1200" dirty="0">
                <a:solidFill>
                  <a:srgbClr val="CFCFCF"/>
                </a:solidFill>
                <a:latin typeface="Calibri" pitchFamily="34" charset="0"/>
                <a:ea typeface="Calibri" pitchFamily="34" charset="-122"/>
                <a:cs typeface="Calibri" pitchFamily="34" charset="-120"/>
              </a:rPr>
              <a:t>task &amp; project models</a:t>
            </a:r>
            <a:endParaRPr lang="en-US" sz="1200" dirty="0"/>
          </a:p>
        </p:txBody>
      </p:sp>
      <p:sp>
        <p:nvSpPr>
          <p:cNvPr id="11" name="Shape 9"/>
          <p:cNvSpPr/>
          <p:nvPr/>
        </p:nvSpPr>
        <p:spPr>
          <a:xfrm>
            <a:off x="7498080" y="1828800"/>
            <a:ext cx="4023360" cy="868680"/>
          </a:xfrm>
          <a:prstGeom prst="roundRect">
            <a:avLst>
              <a:gd name="adj" fmla="val 10526"/>
            </a:avLst>
          </a:prstGeom>
          <a:solidFill>
            <a:srgbClr val="FAFAFA"/>
          </a:solidFill>
          <a:ln w="12700">
            <a:solidFill>
              <a:srgbClr val="E5E5E5"/>
            </a:solidFill>
            <a:prstDash val="solid"/>
          </a:ln>
        </p:spPr>
      </p:sp>
      <p:sp>
        <p:nvSpPr>
          <p:cNvPr id="12" name="Text 10"/>
          <p:cNvSpPr/>
          <p:nvPr/>
        </p:nvSpPr>
        <p:spPr>
          <a:xfrm>
            <a:off x="7635240" y="1993392"/>
            <a:ext cx="3749040" cy="45720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Zep Cloud — GraphRAG</a:t>
            </a:r>
            <a:endParaRPr lang="en-US" sz="1600" dirty="0"/>
          </a:p>
        </p:txBody>
      </p:sp>
      <p:sp>
        <p:nvSpPr>
          <p:cNvPr id="13" name="Text 11"/>
          <p:cNvSpPr/>
          <p:nvPr/>
        </p:nvSpPr>
        <p:spPr>
          <a:xfrm>
            <a:off x="7635240" y="2487168"/>
            <a:ext cx="3749040" cy="91440"/>
          </a:xfrm>
          <a:prstGeom prst="rect">
            <a:avLst/>
          </a:prstGeom>
          <a:noFill/>
          <a:ln/>
        </p:spPr>
        <p:txBody>
          <a:bodyPr wrap="square" rtlCol="0" anchor="ctr"/>
          <a:lstStyle/>
          <a:p>
            <a:pPr algn="ctr" indent="0" marL="0">
              <a:lnSpc>
                <a:spcPct val="105000"/>
              </a:lnSpc>
              <a:buNone/>
            </a:pPr>
            <a:r>
              <a:rPr lang="en-US" sz="1200" dirty="0">
                <a:solidFill>
                  <a:srgbClr val="666666"/>
                </a:solidFill>
                <a:latin typeface="Calibri" pitchFamily="34" charset="0"/>
                <a:ea typeface="Calibri" pitchFamily="34" charset="-122"/>
                <a:cs typeface="Calibri" pitchFamily="34" charset="-120"/>
              </a:rPr>
              <a:t>Knowledge graph + persona memory (SaaS)</a:t>
            </a:r>
            <a:endParaRPr lang="en-US" sz="1200" dirty="0"/>
          </a:p>
        </p:txBody>
      </p:sp>
      <p:sp>
        <p:nvSpPr>
          <p:cNvPr id="14" name="Shape 12"/>
          <p:cNvSpPr/>
          <p:nvPr/>
        </p:nvSpPr>
        <p:spPr>
          <a:xfrm>
            <a:off x="7498080" y="2788920"/>
            <a:ext cx="4023360" cy="868680"/>
          </a:xfrm>
          <a:prstGeom prst="roundRect">
            <a:avLst>
              <a:gd name="adj" fmla="val 10526"/>
            </a:avLst>
          </a:prstGeom>
          <a:solidFill>
            <a:srgbClr val="FAFAFA"/>
          </a:solidFill>
          <a:ln w="12700">
            <a:solidFill>
              <a:srgbClr val="E5E5E5"/>
            </a:solidFill>
            <a:prstDash val="solid"/>
          </a:ln>
        </p:spPr>
      </p:sp>
      <p:sp>
        <p:nvSpPr>
          <p:cNvPr id="15" name="Text 13"/>
          <p:cNvSpPr/>
          <p:nvPr/>
        </p:nvSpPr>
        <p:spPr>
          <a:xfrm>
            <a:off x="7635240" y="2953512"/>
            <a:ext cx="3749040" cy="45720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OASIS</a:t>
            </a:r>
            <a:endParaRPr lang="en-US" sz="1600" dirty="0"/>
          </a:p>
        </p:txBody>
      </p:sp>
      <p:sp>
        <p:nvSpPr>
          <p:cNvPr id="16" name="Text 14"/>
          <p:cNvSpPr/>
          <p:nvPr/>
        </p:nvSpPr>
        <p:spPr>
          <a:xfrm>
            <a:off x="7635240" y="3447288"/>
            <a:ext cx="3749040" cy="91440"/>
          </a:xfrm>
          <a:prstGeom prst="rect">
            <a:avLst/>
          </a:prstGeom>
          <a:noFill/>
          <a:ln/>
        </p:spPr>
        <p:txBody>
          <a:bodyPr wrap="square" rtlCol="0" anchor="ctr"/>
          <a:lstStyle/>
          <a:p>
            <a:pPr algn="ctr" indent="0" marL="0">
              <a:lnSpc>
                <a:spcPct val="105000"/>
              </a:lnSpc>
              <a:buNone/>
            </a:pPr>
            <a:r>
              <a:rPr lang="en-US" sz="1200" dirty="0">
                <a:solidFill>
                  <a:srgbClr val="666666"/>
                </a:solidFill>
                <a:latin typeface="Calibri" pitchFamily="34" charset="0"/>
                <a:ea typeface="Calibri" pitchFamily="34" charset="-122"/>
                <a:cs typeface="Calibri" pitchFamily="34" charset="-120"/>
              </a:rPr>
              <a:t>Simulated Twitter / Reddit social engine (CAMEL-AI)</a:t>
            </a:r>
            <a:endParaRPr lang="en-US" sz="1200" dirty="0"/>
          </a:p>
        </p:txBody>
      </p:sp>
      <p:sp>
        <p:nvSpPr>
          <p:cNvPr id="17" name="Shape 15"/>
          <p:cNvSpPr/>
          <p:nvPr/>
        </p:nvSpPr>
        <p:spPr>
          <a:xfrm>
            <a:off x="7498080" y="3749040"/>
            <a:ext cx="4023360" cy="868680"/>
          </a:xfrm>
          <a:prstGeom prst="roundRect">
            <a:avLst>
              <a:gd name="adj" fmla="val 10526"/>
            </a:avLst>
          </a:prstGeom>
          <a:solidFill>
            <a:srgbClr val="FAFAFA"/>
          </a:solidFill>
          <a:ln w="12700">
            <a:solidFill>
              <a:srgbClr val="E5E5E5"/>
            </a:solidFill>
            <a:prstDash val="solid"/>
          </a:ln>
        </p:spPr>
      </p:sp>
      <p:sp>
        <p:nvSpPr>
          <p:cNvPr id="18" name="Text 16"/>
          <p:cNvSpPr/>
          <p:nvPr/>
        </p:nvSpPr>
        <p:spPr>
          <a:xfrm>
            <a:off x="7635240" y="3913632"/>
            <a:ext cx="3749040" cy="45720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LLM (OpenAI-compatible)</a:t>
            </a:r>
            <a:endParaRPr lang="en-US" sz="1600" dirty="0"/>
          </a:p>
        </p:txBody>
      </p:sp>
      <p:sp>
        <p:nvSpPr>
          <p:cNvPr id="19" name="Text 17"/>
          <p:cNvSpPr/>
          <p:nvPr/>
        </p:nvSpPr>
        <p:spPr>
          <a:xfrm>
            <a:off x="7635240" y="4407408"/>
            <a:ext cx="3749040" cy="91440"/>
          </a:xfrm>
          <a:prstGeom prst="rect">
            <a:avLst/>
          </a:prstGeom>
          <a:noFill/>
          <a:ln/>
        </p:spPr>
        <p:txBody>
          <a:bodyPr wrap="square" rtlCol="0" anchor="ctr"/>
          <a:lstStyle/>
          <a:p>
            <a:pPr algn="ctr" indent="0" marL="0">
              <a:lnSpc>
                <a:spcPct val="105000"/>
              </a:lnSpc>
              <a:buNone/>
            </a:pPr>
            <a:r>
              <a:rPr lang="en-US" sz="1200" dirty="0">
                <a:solidFill>
                  <a:srgbClr val="666666"/>
                </a:solidFill>
                <a:latin typeface="Calibri" pitchFamily="34" charset="0"/>
                <a:ea typeface="Calibri" pitchFamily="34" charset="-122"/>
                <a:cs typeface="Calibri" pitchFamily="34" charset="-120"/>
              </a:rPr>
              <a:t>Cloud or local — LM Studio, Ollama, vLLM</a:t>
            </a:r>
            <a:endParaRPr lang="en-US" sz="1200" dirty="0"/>
          </a:p>
        </p:txBody>
      </p:sp>
      <p:sp>
        <p:nvSpPr>
          <p:cNvPr id="20" name="Text 18"/>
          <p:cNvSpPr/>
          <p:nvPr/>
        </p:nvSpPr>
        <p:spPr>
          <a:xfrm>
            <a:off x="7223760" y="2651760"/>
            <a:ext cx="457200" cy="640080"/>
          </a:xfrm>
          <a:prstGeom prst="rect">
            <a:avLst/>
          </a:prstGeom>
          <a:noFill/>
          <a:ln/>
        </p:spPr>
        <p:txBody>
          <a:bodyPr wrap="square" rtlCol="0" anchor="ctr"/>
          <a:lstStyle/>
          <a:p>
            <a:pPr algn="ctr" indent="0" marL="0">
              <a:buNone/>
            </a:pPr>
            <a:r>
              <a:rPr lang="en-US" sz="2600" b="1" dirty="0">
                <a:solidFill>
                  <a:srgbClr val="F97316"/>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640080" y="4114800"/>
            <a:ext cx="6537960" cy="914400"/>
          </a:xfrm>
          <a:prstGeom prst="roundRect">
            <a:avLst>
              <a:gd name="adj" fmla="val 10000"/>
            </a:avLst>
          </a:prstGeom>
          <a:solidFill>
            <a:srgbClr val="FFF3E9"/>
          </a:solidFill>
          <a:ln w="12700">
            <a:solidFill>
              <a:srgbClr val="E5E5E5"/>
            </a:solidFill>
            <a:prstDash val="solid"/>
          </a:ln>
        </p:spPr>
      </p:sp>
      <p:sp>
        <p:nvSpPr>
          <p:cNvPr id="22" name="Text 20"/>
          <p:cNvSpPr/>
          <p:nvPr/>
        </p:nvSpPr>
        <p:spPr>
          <a:xfrm>
            <a:off x="777240" y="4279392"/>
            <a:ext cx="6263640" cy="45720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Public-discussion corpus (optional)</a:t>
            </a:r>
            <a:endParaRPr lang="en-US" sz="1600" dirty="0"/>
          </a:p>
        </p:txBody>
      </p:sp>
      <p:sp>
        <p:nvSpPr>
          <p:cNvPr id="23" name="Text 21"/>
          <p:cNvSpPr/>
          <p:nvPr/>
        </p:nvSpPr>
        <p:spPr>
          <a:xfrm>
            <a:off x="777240" y="4773168"/>
            <a:ext cx="6263640" cy="137160"/>
          </a:xfrm>
          <a:prstGeom prst="rect">
            <a:avLst/>
          </a:prstGeom>
          <a:noFill/>
          <a:ln/>
        </p:spPr>
        <p:txBody>
          <a:bodyPr wrap="square" rtlCol="0" anchor="ctr"/>
          <a:lstStyle/>
          <a:p>
            <a:pPr algn="ctr" indent="0" marL="0">
              <a:lnSpc>
                <a:spcPct val="105000"/>
              </a:lnSpc>
              <a:buNone/>
            </a:pPr>
            <a:r>
              <a:rPr lang="en-US" sz="1200" dirty="0">
                <a:solidFill>
                  <a:srgbClr val="666666"/>
                </a:solidFill>
                <a:latin typeface="Calibri" pitchFamily="34" charset="0"/>
                <a:ea typeface="Calibri" pitchFamily="34" charset="-122"/>
                <a:cs typeface="Calibri" pitchFamily="34" charset="-120"/>
              </a:rPr>
              <a:t>Crawls real Reddit / Threads posts, filters LLM-free, grounds personas in real demographics instead of invented ones</a:t>
            </a:r>
            <a:endParaRPr lang="en-US" sz="1200" dirty="0"/>
          </a:p>
        </p:txBody>
      </p:sp>
      <p:sp>
        <p:nvSpPr>
          <p:cNvPr id="24" name="Shape 22"/>
          <p:cNvSpPr/>
          <p:nvPr/>
        </p:nvSpPr>
        <p:spPr>
          <a:xfrm>
            <a:off x="640080" y="5166360"/>
            <a:ext cx="6537960" cy="868680"/>
          </a:xfrm>
          <a:prstGeom prst="roundRect">
            <a:avLst>
              <a:gd name="adj" fmla="val 10526"/>
            </a:avLst>
          </a:prstGeom>
          <a:solidFill>
            <a:srgbClr val="FAFAFA"/>
          </a:solidFill>
          <a:ln w="12700">
            <a:solidFill>
              <a:srgbClr val="E5E5E5"/>
            </a:solidFill>
            <a:prstDash val="solid"/>
          </a:ln>
        </p:spPr>
      </p:sp>
      <p:sp>
        <p:nvSpPr>
          <p:cNvPr id="25" name="Text 23"/>
          <p:cNvSpPr/>
          <p:nvPr/>
        </p:nvSpPr>
        <p:spPr>
          <a:xfrm>
            <a:off x="777240" y="5330952"/>
            <a:ext cx="6263640" cy="45720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Pipeline logging</a:t>
            </a:r>
            <a:endParaRPr lang="en-US" sz="1600" dirty="0"/>
          </a:p>
        </p:txBody>
      </p:sp>
      <p:sp>
        <p:nvSpPr>
          <p:cNvPr id="26" name="Text 24"/>
          <p:cNvSpPr/>
          <p:nvPr/>
        </p:nvSpPr>
        <p:spPr>
          <a:xfrm>
            <a:off x="777240" y="5824728"/>
            <a:ext cx="6263640" cy="91440"/>
          </a:xfrm>
          <a:prstGeom prst="rect">
            <a:avLst/>
          </a:prstGeom>
          <a:noFill/>
          <a:ln/>
        </p:spPr>
        <p:txBody>
          <a:bodyPr wrap="square" rtlCol="0" anchor="ctr"/>
          <a:lstStyle/>
          <a:p>
            <a:pPr algn="ctr" indent="0" marL="0">
              <a:lnSpc>
                <a:spcPct val="105000"/>
              </a:lnSpc>
              <a:buNone/>
            </a:pPr>
            <a:r>
              <a:rPr lang="en-US" sz="1200" dirty="0">
                <a:solidFill>
                  <a:srgbClr val="666666"/>
                </a:solidFill>
                <a:latin typeface="Calibri" pitchFamily="34" charset="0"/>
                <a:ea typeface="Calibri" pitchFamily="34" charset="-122"/>
                <a:cs typeface="Calibri" pitchFamily="34" charset="-120"/>
              </a:rPr>
              <a:t>actions.jsonl · debug.jsonl · pipeline.log — per-run, credentials scrubbed</a:t>
            </a:r>
            <a:endParaRPr lang="en-US" sz="1200" dirty="0"/>
          </a:p>
        </p:txBody>
      </p:sp>
      <p:sp>
        <p:nvSpPr>
          <p:cNvPr id="27" name="Text 25"/>
          <p:cNvSpPr/>
          <p:nvPr/>
        </p:nvSpPr>
        <p:spPr>
          <a:xfrm>
            <a:off x="7498080" y="4846320"/>
            <a:ext cx="4023360" cy="1188720"/>
          </a:xfrm>
          <a:prstGeom prst="rect">
            <a:avLst/>
          </a:prstGeom>
          <a:noFill/>
          <a:ln/>
        </p:spPr>
        <p:txBody>
          <a:bodyPr wrap="square" rtlCol="0" anchor="ctr"/>
          <a:lstStyle/>
          <a:p>
            <a:pPr indent="0" marL="0">
              <a:lnSpc>
                <a:spcPct val="115000"/>
              </a:lnSpc>
              <a:buNone/>
            </a:pPr>
            <a:r>
              <a:rPr lang="en-US" sz="1300" i="1" dirty="0">
                <a:solidFill>
                  <a:srgbClr val="666666"/>
                </a:solidFill>
                <a:latin typeface="Calibri" pitchFamily="34" charset="0"/>
                <a:ea typeface="Calibri" pitchFamily="34" charset="-122"/>
                <a:cs typeface="Calibri" pitchFamily="34" charset="-120"/>
              </a:rPr>
              <a:t>Chatbot LLM is configured separately from the agents — chat local, agents cloud, or vice-versa.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What's real, what's simulated</a:t>
            </a:r>
            <a:endParaRPr lang="en-US" sz="1500" dirty="0"/>
          </a:p>
        </p:txBody>
      </p:sp>
      <p:sp>
        <p:nvSpPr>
          <p:cNvPr id="3" name="Text 1"/>
          <p:cNvSpPr/>
          <p:nvPr/>
        </p:nvSpPr>
        <p:spPr>
          <a:xfrm>
            <a:off x="640080" y="914400"/>
            <a:ext cx="8229600" cy="731520"/>
          </a:xfrm>
          <a:prstGeom prst="rect">
            <a:avLst/>
          </a:prstGeom>
          <a:noFill/>
          <a:ln/>
        </p:spPr>
        <p:txBody>
          <a:bodyPr wrap="square" rtlCol="0" anchor="ctr"/>
          <a:lstStyle/>
          <a:p>
            <a:pPr indent="0" marL="0">
              <a:buNone/>
            </a:pPr>
            <a:r>
              <a:rPr lang="en-US" sz="3000" b="1" dirty="0">
                <a:solidFill>
                  <a:srgbClr val="111111"/>
                </a:solidFill>
                <a:latin typeface="Calibri" pitchFamily="34" charset="0"/>
                <a:ea typeface="Calibri" pitchFamily="34" charset="-122"/>
                <a:cs typeface="Calibri" pitchFamily="34" charset="-120"/>
              </a:rPr>
              <a:t>Honest about the seams</a:t>
            </a:r>
            <a:endParaRPr lang="en-US" sz="3000" dirty="0"/>
          </a:p>
        </p:txBody>
      </p:sp>
      <p:sp>
        <p:nvSpPr>
          <p:cNvPr id="4" name="Shape 2"/>
          <p:cNvSpPr/>
          <p:nvPr/>
        </p:nvSpPr>
        <p:spPr>
          <a:xfrm>
            <a:off x="640080" y="1965960"/>
            <a:ext cx="5349240" cy="4206240"/>
          </a:xfrm>
          <a:prstGeom prst="roundRect">
            <a:avLst>
              <a:gd name="adj" fmla="val 2174"/>
            </a:avLst>
          </a:prstGeom>
          <a:solidFill>
            <a:srgbClr val="FAFAFA"/>
          </a:solidFill>
          <a:ln w="12700">
            <a:solidFill>
              <a:srgbClr val="E5E5E5"/>
            </a:solidFill>
            <a:prstDash val="solid"/>
          </a:ln>
        </p:spPr>
      </p:sp>
      <p:sp>
        <p:nvSpPr>
          <p:cNvPr id="5" name="Shape 3"/>
          <p:cNvSpPr/>
          <p:nvPr/>
        </p:nvSpPr>
        <p:spPr>
          <a:xfrm>
            <a:off x="914400" y="2240280"/>
            <a:ext cx="640080" cy="640080"/>
          </a:xfrm>
          <a:prstGeom prst="ellipse">
            <a:avLst/>
          </a:prstGeom>
          <a:solidFill>
            <a:srgbClr val="10B981"/>
          </a:solidFill>
          <a:ln/>
        </p:spPr>
      </p:sp>
      <p:sp>
        <p:nvSpPr>
          <p:cNvPr id="6" name="Text 4"/>
          <p:cNvSpPr/>
          <p:nvPr/>
        </p:nvSpPr>
        <p:spPr>
          <a:xfrm>
            <a:off x="914400" y="2240280"/>
            <a:ext cx="64008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691640" y="2286000"/>
            <a:ext cx="3657600" cy="548640"/>
          </a:xfrm>
          <a:prstGeom prst="rect">
            <a:avLst/>
          </a:prstGeom>
          <a:noFill/>
          <a:ln/>
        </p:spPr>
        <p:txBody>
          <a:bodyPr wrap="square"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Real</a:t>
            </a:r>
            <a:endParaRPr lang="en-US" sz="2200" dirty="0"/>
          </a:p>
        </p:txBody>
      </p:sp>
      <p:sp>
        <p:nvSpPr>
          <p:cNvPr id="8" name="Text 6"/>
          <p:cNvSpPr/>
          <p:nvPr/>
        </p:nvSpPr>
        <p:spPr>
          <a:xfrm>
            <a:off x="960120" y="3063240"/>
            <a:ext cx="4754880" cy="365760"/>
          </a:xfrm>
          <a:prstGeom prst="rect">
            <a:avLst/>
          </a:prstGeom>
          <a:noFill/>
          <a:ln/>
        </p:spPr>
        <p:txBody>
          <a:bodyPr wrap="square" rtlCol="0" anchor="ctr"/>
          <a:lstStyle/>
          <a:p>
            <a:pPr indent="0" marL="0">
              <a:buNone/>
            </a:pPr>
            <a:r>
              <a:rPr lang="en-US" sz="1600" b="1" dirty="0">
                <a:solidFill>
                  <a:srgbClr val="111111"/>
                </a:solidFill>
                <a:latin typeface="Calibri" pitchFamily="34" charset="0"/>
                <a:ea typeface="Calibri" pitchFamily="34" charset="-122"/>
                <a:cs typeface="Calibri" pitchFamily="34" charset="-120"/>
              </a:rPr>
              <a:t>Knowledge graph</a:t>
            </a:r>
            <a:endParaRPr lang="en-US" sz="1600" dirty="0"/>
          </a:p>
        </p:txBody>
      </p:sp>
      <p:sp>
        <p:nvSpPr>
          <p:cNvPr id="9" name="Text 7"/>
          <p:cNvSpPr/>
          <p:nvPr/>
        </p:nvSpPr>
        <p:spPr>
          <a:xfrm>
            <a:off x="960120" y="3447288"/>
            <a:ext cx="4846320" cy="54864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Lives on Zep Cloud, built from your files</a:t>
            </a:r>
            <a:endParaRPr lang="en-US" sz="1300" dirty="0"/>
          </a:p>
        </p:txBody>
      </p:sp>
      <p:sp>
        <p:nvSpPr>
          <p:cNvPr id="10" name="Text 8"/>
          <p:cNvSpPr/>
          <p:nvPr/>
        </p:nvSpPr>
        <p:spPr>
          <a:xfrm>
            <a:off x="960120" y="4069080"/>
            <a:ext cx="4754880" cy="365760"/>
          </a:xfrm>
          <a:prstGeom prst="rect">
            <a:avLst/>
          </a:prstGeom>
          <a:noFill/>
          <a:ln/>
        </p:spPr>
        <p:txBody>
          <a:bodyPr wrap="square" rtlCol="0" anchor="ctr"/>
          <a:lstStyle/>
          <a:p>
            <a:pPr indent="0" marL="0">
              <a:buNone/>
            </a:pPr>
            <a:r>
              <a:rPr lang="en-US" sz="1600" b="1" dirty="0">
                <a:solidFill>
                  <a:srgbClr val="111111"/>
                </a:solidFill>
                <a:latin typeface="Calibri" pitchFamily="34" charset="0"/>
                <a:ea typeface="Calibri" pitchFamily="34" charset="-122"/>
                <a:cs typeface="Calibri" pitchFamily="34" charset="-120"/>
              </a:rPr>
              <a:t>KPIs</a:t>
            </a:r>
            <a:endParaRPr lang="en-US" sz="1600" dirty="0"/>
          </a:p>
        </p:txBody>
      </p:sp>
      <p:sp>
        <p:nvSpPr>
          <p:cNvPr id="11" name="Text 9"/>
          <p:cNvSpPr/>
          <p:nvPr/>
        </p:nvSpPr>
        <p:spPr>
          <a:xfrm>
            <a:off x="960120" y="4453128"/>
            <a:ext cx="4846320" cy="54864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Counted from the action log — not estimated</a:t>
            </a:r>
            <a:endParaRPr lang="en-US" sz="1300" dirty="0"/>
          </a:p>
        </p:txBody>
      </p:sp>
      <p:sp>
        <p:nvSpPr>
          <p:cNvPr id="12" name="Text 10"/>
          <p:cNvSpPr/>
          <p:nvPr/>
        </p:nvSpPr>
        <p:spPr>
          <a:xfrm>
            <a:off x="960120" y="5074920"/>
            <a:ext cx="4754880" cy="365760"/>
          </a:xfrm>
          <a:prstGeom prst="rect">
            <a:avLst/>
          </a:prstGeom>
          <a:noFill/>
          <a:ln/>
        </p:spPr>
        <p:txBody>
          <a:bodyPr wrap="square" rtlCol="0" anchor="ctr"/>
          <a:lstStyle/>
          <a:p>
            <a:pPr indent="0" marL="0">
              <a:buNone/>
            </a:pPr>
            <a:r>
              <a:rPr lang="en-US" sz="1600" b="1" dirty="0">
                <a:solidFill>
                  <a:srgbClr val="111111"/>
                </a:solidFill>
                <a:latin typeface="Calibri" pitchFamily="34" charset="0"/>
                <a:ea typeface="Calibri" pitchFamily="34" charset="-122"/>
                <a:cs typeface="Calibri" pitchFamily="34" charset="-120"/>
              </a:rPr>
              <a:t>Corpus (optional)</a:t>
            </a:r>
            <a:endParaRPr lang="en-US" sz="1600" dirty="0"/>
          </a:p>
        </p:txBody>
      </p:sp>
      <p:sp>
        <p:nvSpPr>
          <p:cNvPr id="13" name="Text 11"/>
          <p:cNvSpPr/>
          <p:nvPr/>
        </p:nvSpPr>
        <p:spPr>
          <a:xfrm>
            <a:off x="960120" y="5458968"/>
            <a:ext cx="4846320" cy="54864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Real Reddit / Threads posts ground personas</a:t>
            </a:r>
            <a:endParaRPr lang="en-US" sz="1300" dirty="0"/>
          </a:p>
        </p:txBody>
      </p:sp>
      <p:sp>
        <p:nvSpPr>
          <p:cNvPr id="14" name="Shape 12"/>
          <p:cNvSpPr/>
          <p:nvPr/>
        </p:nvSpPr>
        <p:spPr>
          <a:xfrm>
            <a:off x="6263640" y="1965960"/>
            <a:ext cx="5257800" cy="4206240"/>
          </a:xfrm>
          <a:prstGeom prst="roundRect">
            <a:avLst>
              <a:gd name="adj" fmla="val 2174"/>
            </a:avLst>
          </a:prstGeom>
          <a:solidFill>
            <a:srgbClr val="FAFAFA"/>
          </a:solidFill>
          <a:ln w="12700">
            <a:solidFill>
              <a:srgbClr val="E5E5E5"/>
            </a:solidFill>
            <a:prstDash val="solid"/>
          </a:ln>
        </p:spPr>
      </p:sp>
      <p:sp>
        <p:nvSpPr>
          <p:cNvPr id="15" name="Shape 13"/>
          <p:cNvSpPr/>
          <p:nvPr/>
        </p:nvSpPr>
        <p:spPr>
          <a:xfrm>
            <a:off x="6537960" y="2240280"/>
            <a:ext cx="640080" cy="640080"/>
          </a:xfrm>
          <a:prstGeom prst="ellipse">
            <a:avLst/>
          </a:prstGeom>
          <a:solidFill>
            <a:srgbClr val="F97316"/>
          </a:solidFill>
          <a:ln/>
        </p:spPr>
      </p:sp>
      <p:sp>
        <p:nvSpPr>
          <p:cNvPr id="16" name="Text 14"/>
          <p:cNvSpPr/>
          <p:nvPr/>
        </p:nvSpPr>
        <p:spPr>
          <a:xfrm>
            <a:off x="6537960" y="224028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7315200" y="2286000"/>
            <a:ext cx="3657600" cy="548640"/>
          </a:xfrm>
          <a:prstGeom prst="rect">
            <a:avLst/>
          </a:prstGeom>
          <a:noFill/>
          <a:ln/>
        </p:spPr>
        <p:txBody>
          <a:bodyPr wrap="square" rtlCol="0" anchor="ctr"/>
          <a:lstStyle/>
          <a:p>
            <a:pPr indent="0" marL="0">
              <a:buNone/>
            </a:pPr>
            <a:r>
              <a:rPr lang="en-US" sz="2200" b="1" dirty="0">
                <a:solidFill>
                  <a:srgbClr val="EA580C"/>
                </a:solidFill>
                <a:latin typeface="Calibri" pitchFamily="34" charset="0"/>
                <a:ea typeface="Calibri" pitchFamily="34" charset="-122"/>
                <a:cs typeface="Calibri" pitchFamily="34" charset="-120"/>
              </a:rPr>
              <a:t>Simulated</a:t>
            </a:r>
            <a:endParaRPr lang="en-US" sz="2200" dirty="0"/>
          </a:p>
        </p:txBody>
      </p:sp>
      <p:sp>
        <p:nvSpPr>
          <p:cNvPr id="18" name="Text 16"/>
          <p:cNvSpPr/>
          <p:nvPr/>
        </p:nvSpPr>
        <p:spPr>
          <a:xfrm>
            <a:off x="6583680" y="3063240"/>
            <a:ext cx="4754880" cy="365760"/>
          </a:xfrm>
          <a:prstGeom prst="rect">
            <a:avLst/>
          </a:prstGeom>
          <a:noFill/>
          <a:ln/>
        </p:spPr>
        <p:txBody>
          <a:bodyPr wrap="square" rtlCol="0" anchor="ctr"/>
          <a:lstStyle/>
          <a:p>
            <a:pPr indent="0" marL="0">
              <a:buNone/>
            </a:pPr>
            <a:r>
              <a:rPr lang="en-US" sz="1600" b="1" dirty="0">
                <a:solidFill>
                  <a:srgbClr val="111111"/>
                </a:solidFill>
                <a:latin typeface="Calibri" pitchFamily="34" charset="0"/>
                <a:ea typeface="Calibri" pitchFamily="34" charset="-122"/>
                <a:cs typeface="Calibri" pitchFamily="34" charset="-120"/>
              </a:rPr>
              <a:t>Social platforms</a:t>
            </a:r>
            <a:endParaRPr lang="en-US" sz="1600" dirty="0"/>
          </a:p>
        </p:txBody>
      </p:sp>
      <p:sp>
        <p:nvSpPr>
          <p:cNvPr id="19" name="Text 17"/>
          <p:cNvSpPr/>
          <p:nvPr/>
        </p:nvSpPr>
        <p:spPr>
          <a:xfrm>
            <a:off x="6583680" y="3447288"/>
            <a:ext cx="4754880" cy="640080"/>
          </a:xfrm>
          <a:prstGeom prst="rect">
            <a:avLst/>
          </a:prstGeom>
          <a:noFill/>
          <a:ln/>
        </p:spPr>
        <p:txBody>
          <a:bodyPr wrap="square" rtlCol="0" anchor="ctr"/>
          <a:lstStyle/>
          <a:p>
            <a:pPr indent="0" marL="0">
              <a:lnSpc>
                <a:spcPct val="105000"/>
              </a:lnSpc>
              <a:buNone/>
            </a:pPr>
            <a:r>
              <a:rPr lang="en-US" sz="1300" dirty="0">
                <a:solidFill>
                  <a:srgbClr val="666666"/>
                </a:solidFill>
                <a:latin typeface="Calibri" pitchFamily="34" charset="0"/>
                <a:ea typeface="Calibri" pitchFamily="34" charset="-122"/>
                <a:cs typeface="Calibri" pitchFamily="34" charset="-120"/>
              </a:rPr>
              <a:t>Twitter &amp; Reddit feeds are OASIS — nothing posts to the real sites</a:t>
            </a:r>
            <a:endParaRPr lang="en-US" sz="1300" dirty="0"/>
          </a:p>
        </p:txBody>
      </p:sp>
      <p:sp>
        <p:nvSpPr>
          <p:cNvPr id="20" name="Text 18"/>
          <p:cNvSpPr/>
          <p:nvPr/>
        </p:nvSpPr>
        <p:spPr>
          <a:xfrm>
            <a:off x="6583680" y="4069080"/>
            <a:ext cx="4754880" cy="365760"/>
          </a:xfrm>
          <a:prstGeom prst="rect">
            <a:avLst/>
          </a:prstGeom>
          <a:noFill/>
          <a:ln/>
        </p:spPr>
        <p:txBody>
          <a:bodyPr wrap="square" rtlCol="0" anchor="ctr"/>
          <a:lstStyle/>
          <a:p>
            <a:pPr indent="0" marL="0">
              <a:buNone/>
            </a:pPr>
            <a:r>
              <a:rPr lang="en-US" sz="1600" b="1" dirty="0">
                <a:solidFill>
                  <a:srgbClr val="111111"/>
                </a:solidFill>
                <a:latin typeface="Calibri" pitchFamily="34" charset="0"/>
                <a:ea typeface="Calibri" pitchFamily="34" charset="-122"/>
                <a:cs typeface="Calibri" pitchFamily="34" charset="-120"/>
              </a:rPr>
              <a:t>The audience</a:t>
            </a:r>
            <a:endParaRPr lang="en-US" sz="1600" dirty="0"/>
          </a:p>
        </p:txBody>
      </p:sp>
      <p:sp>
        <p:nvSpPr>
          <p:cNvPr id="21" name="Text 19"/>
          <p:cNvSpPr/>
          <p:nvPr/>
        </p:nvSpPr>
        <p:spPr>
          <a:xfrm>
            <a:off x="6583680" y="4453128"/>
            <a:ext cx="4754880" cy="640080"/>
          </a:xfrm>
          <a:prstGeom prst="rect">
            <a:avLst/>
          </a:prstGeom>
          <a:noFill/>
          <a:ln/>
        </p:spPr>
        <p:txBody>
          <a:bodyPr wrap="square" rtlCol="0" anchor="ctr"/>
          <a:lstStyle/>
          <a:p>
            <a:pPr indent="0" marL="0">
              <a:lnSpc>
                <a:spcPct val="105000"/>
              </a:lnSpc>
              <a:buNone/>
            </a:pPr>
            <a:r>
              <a:rPr lang="en-US" sz="1300" dirty="0">
                <a:solidFill>
                  <a:srgbClr val="666666"/>
                </a:solidFill>
                <a:latin typeface="Calibri" pitchFamily="34" charset="0"/>
                <a:ea typeface="Calibri" pitchFamily="34" charset="-122"/>
                <a:cs typeface="Calibri" pitchFamily="34" charset="-120"/>
              </a:rPr>
              <a:t>Buyer-persona agents generated from graph entities</a:t>
            </a:r>
            <a:endParaRPr lang="en-US" sz="1300" dirty="0"/>
          </a:p>
        </p:txBody>
      </p:sp>
      <p:sp>
        <p:nvSpPr>
          <p:cNvPr id="22" name="Text 20"/>
          <p:cNvSpPr/>
          <p:nvPr/>
        </p:nvSpPr>
        <p:spPr>
          <a:xfrm>
            <a:off x="6583680" y="5074920"/>
            <a:ext cx="4754880" cy="365760"/>
          </a:xfrm>
          <a:prstGeom prst="rect">
            <a:avLst/>
          </a:prstGeom>
          <a:noFill/>
          <a:ln/>
        </p:spPr>
        <p:txBody>
          <a:bodyPr wrap="square" rtlCol="0" anchor="ctr"/>
          <a:lstStyle/>
          <a:p>
            <a:pPr indent="0" marL="0">
              <a:buNone/>
            </a:pPr>
            <a:r>
              <a:rPr lang="en-US" sz="1600" b="1" dirty="0">
                <a:solidFill>
                  <a:srgbClr val="111111"/>
                </a:solidFill>
                <a:latin typeface="Calibri" pitchFamily="34" charset="0"/>
                <a:ea typeface="Calibri" pitchFamily="34" charset="-122"/>
                <a:cs typeface="Calibri" pitchFamily="34" charset="-120"/>
              </a:rPr>
              <a:t>Purchase intent &amp; objections</a:t>
            </a:r>
            <a:endParaRPr lang="en-US" sz="1600" dirty="0"/>
          </a:p>
        </p:txBody>
      </p:sp>
      <p:sp>
        <p:nvSpPr>
          <p:cNvPr id="23" name="Text 21"/>
          <p:cNvSpPr/>
          <p:nvPr/>
        </p:nvSpPr>
        <p:spPr>
          <a:xfrm>
            <a:off x="6583680" y="5458968"/>
            <a:ext cx="4754880" cy="640080"/>
          </a:xfrm>
          <a:prstGeom prst="rect">
            <a:avLst/>
          </a:prstGeom>
          <a:noFill/>
          <a:ln/>
        </p:spPr>
        <p:txBody>
          <a:bodyPr wrap="square" rtlCol="0" anchor="ctr"/>
          <a:lstStyle/>
          <a:p>
            <a:pPr indent="0" marL="0">
              <a:lnSpc>
                <a:spcPct val="105000"/>
              </a:lnSpc>
              <a:buNone/>
            </a:pPr>
            <a:r>
              <a:rPr lang="en-US" sz="1300" dirty="0">
                <a:solidFill>
                  <a:srgbClr val="666666"/>
                </a:solidFill>
                <a:latin typeface="Calibri" pitchFamily="34" charset="0"/>
                <a:ea typeface="Calibri" pitchFamily="34" charset="-122"/>
                <a:cs typeface="Calibri" pitchFamily="34" charset="-120"/>
              </a:rPr>
              <a:t>From agent interviews — not countable from likes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What you get back</a:t>
            </a:r>
            <a:endParaRPr lang="en-US" sz="1500" dirty="0"/>
          </a:p>
        </p:txBody>
      </p:sp>
      <p:sp>
        <p:nvSpPr>
          <p:cNvPr id="3" name="Text 1"/>
          <p:cNvSpPr/>
          <p:nvPr/>
        </p:nvSpPr>
        <p:spPr>
          <a:xfrm>
            <a:off x="640080" y="914400"/>
            <a:ext cx="8229600" cy="731520"/>
          </a:xfrm>
          <a:prstGeom prst="rect">
            <a:avLst/>
          </a:prstGeom>
          <a:noFill/>
          <a:ln/>
        </p:spPr>
        <p:txBody>
          <a:bodyPr wrap="square" rtlCol="0" anchor="ctr"/>
          <a:lstStyle/>
          <a:p>
            <a:pPr indent="0" marL="0">
              <a:buNone/>
            </a:pPr>
            <a:r>
              <a:rPr lang="en-US" sz="3000" b="1" dirty="0">
                <a:solidFill>
                  <a:srgbClr val="111111"/>
                </a:solidFill>
                <a:latin typeface="Calibri" pitchFamily="34" charset="0"/>
                <a:ea typeface="Calibri" pitchFamily="34" charset="-122"/>
                <a:cs typeface="Calibri" pitchFamily="34" charset="-120"/>
              </a:rPr>
              <a:t>KPIs produced</a:t>
            </a:r>
            <a:endParaRPr lang="en-US" sz="3000" dirty="0"/>
          </a:p>
        </p:txBody>
      </p:sp>
      <p:sp>
        <p:nvSpPr>
          <p:cNvPr id="4" name="Shape 2"/>
          <p:cNvSpPr/>
          <p:nvPr/>
        </p:nvSpPr>
        <p:spPr>
          <a:xfrm>
            <a:off x="640080" y="2148840"/>
            <a:ext cx="2606040" cy="960120"/>
          </a:xfrm>
          <a:prstGeom prst="roundRect">
            <a:avLst>
              <a:gd name="adj" fmla="val 9524"/>
            </a:avLst>
          </a:prstGeom>
          <a:solidFill>
            <a:srgbClr val="FAFAFA"/>
          </a:solidFill>
          <a:ln w="12700">
            <a:solidFill>
              <a:srgbClr val="E5E5E5"/>
            </a:solidFill>
            <a:prstDash val="solid"/>
          </a:ln>
        </p:spPr>
      </p:sp>
      <p:sp>
        <p:nvSpPr>
          <p:cNvPr id="5" name="Shape 3"/>
          <p:cNvSpPr/>
          <p:nvPr/>
        </p:nvSpPr>
        <p:spPr>
          <a:xfrm>
            <a:off x="841248" y="2496312"/>
            <a:ext cx="256032" cy="256032"/>
          </a:xfrm>
          <a:prstGeom prst="ellipse">
            <a:avLst/>
          </a:prstGeom>
          <a:solidFill>
            <a:srgbClr val="F97316"/>
          </a:solidFill>
          <a:ln/>
        </p:spPr>
      </p:sp>
      <p:sp>
        <p:nvSpPr>
          <p:cNvPr id="6" name="Text 4"/>
          <p:cNvSpPr/>
          <p:nvPr/>
        </p:nvSpPr>
        <p:spPr>
          <a:xfrm>
            <a:off x="1207008" y="2148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Reach &amp; reach rate</a:t>
            </a:r>
            <a:endParaRPr lang="en-US" sz="1350" dirty="0"/>
          </a:p>
        </p:txBody>
      </p:sp>
      <p:sp>
        <p:nvSpPr>
          <p:cNvPr id="7" name="Shape 5"/>
          <p:cNvSpPr/>
          <p:nvPr/>
        </p:nvSpPr>
        <p:spPr>
          <a:xfrm>
            <a:off x="3429000" y="2148840"/>
            <a:ext cx="2606040" cy="960120"/>
          </a:xfrm>
          <a:prstGeom prst="roundRect">
            <a:avLst>
              <a:gd name="adj" fmla="val 9524"/>
            </a:avLst>
          </a:prstGeom>
          <a:solidFill>
            <a:srgbClr val="FAFAFA"/>
          </a:solidFill>
          <a:ln w="12700">
            <a:solidFill>
              <a:srgbClr val="E5E5E5"/>
            </a:solidFill>
            <a:prstDash val="solid"/>
          </a:ln>
        </p:spPr>
      </p:sp>
      <p:sp>
        <p:nvSpPr>
          <p:cNvPr id="8" name="Shape 6"/>
          <p:cNvSpPr/>
          <p:nvPr/>
        </p:nvSpPr>
        <p:spPr>
          <a:xfrm>
            <a:off x="3630168" y="2496312"/>
            <a:ext cx="256032" cy="256032"/>
          </a:xfrm>
          <a:prstGeom prst="ellipse">
            <a:avLst/>
          </a:prstGeom>
          <a:solidFill>
            <a:srgbClr val="F59E0B"/>
          </a:solidFill>
          <a:ln/>
        </p:spPr>
      </p:sp>
      <p:sp>
        <p:nvSpPr>
          <p:cNvPr id="9" name="Text 7"/>
          <p:cNvSpPr/>
          <p:nvPr/>
        </p:nvSpPr>
        <p:spPr>
          <a:xfrm>
            <a:off x="3995928" y="2148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Impressions</a:t>
            </a:r>
            <a:endParaRPr lang="en-US" sz="1350" dirty="0"/>
          </a:p>
        </p:txBody>
      </p:sp>
      <p:sp>
        <p:nvSpPr>
          <p:cNvPr id="10" name="Shape 8"/>
          <p:cNvSpPr/>
          <p:nvPr/>
        </p:nvSpPr>
        <p:spPr>
          <a:xfrm>
            <a:off x="6217920" y="2148840"/>
            <a:ext cx="2606040" cy="960120"/>
          </a:xfrm>
          <a:prstGeom prst="roundRect">
            <a:avLst>
              <a:gd name="adj" fmla="val 9524"/>
            </a:avLst>
          </a:prstGeom>
          <a:solidFill>
            <a:srgbClr val="FAFAFA"/>
          </a:solidFill>
          <a:ln w="12700">
            <a:solidFill>
              <a:srgbClr val="E5E5E5"/>
            </a:solidFill>
            <a:prstDash val="solid"/>
          </a:ln>
        </p:spPr>
      </p:sp>
      <p:sp>
        <p:nvSpPr>
          <p:cNvPr id="11" name="Shape 9"/>
          <p:cNvSpPr/>
          <p:nvPr/>
        </p:nvSpPr>
        <p:spPr>
          <a:xfrm>
            <a:off x="6419088" y="2496312"/>
            <a:ext cx="256032" cy="256032"/>
          </a:xfrm>
          <a:prstGeom prst="ellipse">
            <a:avLst/>
          </a:prstGeom>
          <a:solidFill>
            <a:srgbClr val="F59E0B"/>
          </a:solidFill>
          <a:ln/>
        </p:spPr>
      </p:sp>
      <p:sp>
        <p:nvSpPr>
          <p:cNvPr id="12" name="Text 10"/>
          <p:cNvSpPr/>
          <p:nvPr/>
        </p:nvSpPr>
        <p:spPr>
          <a:xfrm>
            <a:off x="6784848" y="2148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Engagement rate</a:t>
            </a:r>
            <a:endParaRPr lang="en-US" sz="1350" dirty="0"/>
          </a:p>
        </p:txBody>
      </p:sp>
      <p:sp>
        <p:nvSpPr>
          <p:cNvPr id="13" name="Shape 11"/>
          <p:cNvSpPr/>
          <p:nvPr/>
        </p:nvSpPr>
        <p:spPr>
          <a:xfrm>
            <a:off x="9006840" y="2148840"/>
            <a:ext cx="2606040" cy="960120"/>
          </a:xfrm>
          <a:prstGeom prst="roundRect">
            <a:avLst>
              <a:gd name="adj" fmla="val 9524"/>
            </a:avLst>
          </a:prstGeom>
          <a:solidFill>
            <a:srgbClr val="FAFAFA"/>
          </a:solidFill>
          <a:ln w="12700">
            <a:solidFill>
              <a:srgbClr val="E5E5E5"/>
            </a:solidFill>
            <a:prstDash val="solid"/>
          </a:ln>
        </p:spPr>
      </p:sp>
      <p:sp>
        <p:nvSpPr>
          <p:cNvPr id="14" name="Shape 12"/>
          <p:cNvSpPr/>
          <p:nvPr/>
        </p:nvSpPr>
        <p:spPr>
          <a:xfrm>
            <a:off x="9208008" y="2496312"/>
            <a:ext cx="256032" cy="256032"/>
          </a:xfrm>
          <a:prstGeom prst="ellipse">
            <a:avLst/>
          </a:prstGeom>
          <a:solidFill>
            <a:srgbClr val="F97316"/>
          </a:solidFill>
          <a:ln/>
        </p:spPr>
      </p:sp>
      <p:sp>
        <p:nvSpPr>
          <p:cNvPr id="15" name="Text 13"/>
          <p:cNvSpPr/>
          <p:nvPr/>
        </p:nvSpPr>
        <p:spPr>
          <a:xfrm>
            <a:off x="9573768" y="2148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Passive share</a:t>
            </a:r>
            <a:endParaRPr lang="en-US" sz="1350" dirty="0"/>
          </a:p>
        </p:txBody>
      </p:sp>
      <p:sp>
        <p:nvSpPr>
          <p:cNvPr id="16" name="Shape 14"/>
          <p:cNvSpPr/>
          <p:nvPr/>
        </p:nvSpPr>
        <p:spPr>
          <a:xfrm>
            <a:off x="640080" y="3291840"/>
            <a:ext cx="2606040" cy="960120"/>
          </a:xfrm>
          <a:prstGeom prst="roundRect">
            <a:avLst>
              <a:gd name="adj" fmla="val 9524"/>
            </a:avLst>
          </a:prstGeom>
          <a:solidFill>
            <a:srgbClr val="FAFAFA"/>
          </a:solidFill>
          <a:ln w="12700">
            <a:solidFill>
              <a:srgbClr val="E5E5E5"/>
            </a:solidFill>
            <a:prstDash val="solid"/>
          </a:ln>
        </p:spPr>
      </p:sp>
      <p:sp>
        <p:nvSpPr>
          <p:cNvPr id="17" name="Shape 15"/>
          <p:cNvSpPr/>
          <p:nvPr/>
        </p:nvSpPr>
        <p:spPr>
          <a:xfrm>
            <a:off x="841248" y="3639312"/>
            <a:ext cx="256032" cy="256032"/>
          </a:xfrm>
          <a:prstGeom prst="ellipse">
            <a:avLst/>
          </a:prstGeom>
          <a:solidFill>
            <a:srgbClr val="F59E0B"/>
          </a:solidFill>
          <a:ln/>
        </p:spPr>
      </p:sp>
      <p:sp>
        <p:nvSpPr>
          <p:cNvPr id="18" name="Text 16"/>
          <p:cNvSpPr/>
          <p:nvPr/>
        </p:nvSpPr>
        <p:spPr>
          <a:xfrm>
            <a:off x="1207008" y="3291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Virality ratio</a:t>
            </a:r>
            <a:endParaRPr lang="en-US" sz="1350" dirty="0"/>
          </a:p>
        </p:txBody>
      </p:sp>
      <p:sp>
        <p:nvSpPr>
          <p:cNvPr id="19" name="Shape 17"/>
          <p:cNvSpPr/>
          <p:nvPr/>
        </p:nvSpPr>
        <p:spPr>
          <a:xfrm>
            <a:off x="3429000" y="3291840"/>
            <a:ext cx="2606040" cy="960120"/>
          </a:xfrm>
          <a:prstGeom prst="roundRect">
            <a:avLst>
              <a:gd name="adj" fmla="val 9524"/>
            </a:avLst>
          </a:prstGeom>
          <a:solidFill>
            <a:srgbClr val="FAFAFA"/>
          </a:solidFill>
          <a:ln w="12700">
            <a:solidFill>
              <a:srgbClr val="E5E5E5"/>
            </a:solidFill>
            <a:prstDash val="solid"/>
          </a:ln>
        </p:spPr>
      </p:sp>
      <p:sp>
        <p:nvSpPr>
          <p:cNvPr id="20" name="Shape 18"/>
          <p:cNvSpPr/>
          <p:nvPr/>
        </p:nvSpPr>
        <p:spPr>
          <a:xfrm>
            <a:off x="3630168" y="3639312"/>
            <a:ext cx="256032" cy="256032"/>
          </a:xfrm>
          <a:prstGeom prst="ellipse">
            <a:avLst/>
          </a:prstGeom>
          <a:solidFill>
            <a:srgbClr val="F59E0B"/>
          </a:solidFill>
          <a:ln/>
        </p:spPr>
      </p:sp>
      <p:sp>
        <p:nvSpPr>
          <p:cNvPr id="21" name="Text 19"/>
          <p:cNvSpPr/>
          <p:nvPr/>
        </p:nvSpPr>
        <p:spPr>
          <a:xfrm>
            <a:off x="3995928" y="3291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Share-cascade depth</a:t>
            </a:r>
            <a:endParaRPr lang="en-US" sz="1350" dirty="0"/>
          </a:p>
        </p:txBody>
      </p:sp>
      <p:sp>
        <p:nvSpPr>
          <p:cNvPr id="22" name="Shape 20"/>
          <p:cNvSpPr/>
          <p:nvPr/>
        </p:nvSpPr>
        <p:spPr>
          <a:xfrm>
            <a:off x="6217920" y="3291840"/>
            <a:ext cx="2606040" cy="960120"/>
          </a:xfrm>
          <a:prstGeom prst="roundRect">
            <a:avLst>
              <a:gd name="adj" fmla="val 9524"/>
            </a:avLst>
          </a:prstGeom>
          <a:solidFill>
            <a:srgbClr val="FAFAFA"/>
          </a:solidFill>
          <a:ln w="12700">
            <a:solidFill>
              <a:srgbClr val="E5E5E5"/>
            </a:solidFill>
            <a:prstDash val="solid"/>
          </a:ln>
        </p:spPr>
      </p:sp>
      <p:sp>
        <p:nvSpPr>
          <p:cNvPr id="23" name="Shape 21"/>
          <p:cNvSpPr/>
          <p:nvPr/>
        </p:nvSpPr>
        <p:spPr>
          <a:xfrm>
            <a:off x="6419088" y="3639312"/>
            <a:ext cx="256032" cy="256032"/>
          </a:xfrm>
          <a:prstGeom prst="ellipse">
            <a:avLst/>
          </a:prstGeom>
          <a:solidFill>
            <a:srgbClr val="F97316"/>
          </a:solidFill>
          <a:ln/>
        </p:spPr>
      </p:sp>
      <p:sp>
        <p:nvSpPr>
          <p:cNvPr id="24" name="Text 22"/>
          <p:cNvSpPr/>
          <p:nvPr/>
        </p:nvSpPr>
        <p:spPr>
          <a:xfrm>
            <a:off x="6784848" y="3291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Sentiment split</a:t>
            </a:r>
            <a:endParaRPr lang="en-US" sz="1350" dirty="0"/>
          </a:p>
        </p:txBody>
      </p:sp>
      <p:sp>
        <p:nvSpPr>
          <p:cNvPr id="25" name="Shape 23"/>
          <p:cNvSpPr/>
          <p:nvPr/>
        </p:nvSpPr>
        <p:spPr>
          <a:xfrm>
            <a:off x="9006840" y="3291840"/>
            <a:ext cx="2606040" cy="960120"/>
          </a:xfrm>
          <a:prstGeom prst="roundRect">
            <a:avLst>
              <a:gd name="adj" fmla="val 9524"/>
            </a:avLst>
          </a:prstGeom>
          <a:solidFill>
            <a:srgbClr val="FAFAFA"/>
          </a:solidFill>
          <a:ln w="12700">
            <a:solidFill>
              <a:srgbClr val="E5E5E5"/>
            </a:solidFill>
            <a:prstDash val="solid"/>
          </a:ln>
        </p:spPr>
      </p:sp>
      <p:sp>
        <p:nvSpPr>
          <p:cNvPr id="26" name="Shape 24"/>
          <p:cNvSpPr/>
          <p:nvPr/>
        </p:nvSpPr>
        <p:spPr>
          <a:xfrm>
            <a:off x="9208008" y="3639312"/>
            <a:ext cx="256032" cy="256032"/>
          </a:xfrm>
          <a:prstGeom prst="ellipse">
            <a:avLst/>
          </a:prstGeom>
          <a:solidFill>
            <a:srgbClr val="F59E0B"/>
          </a:solidFill>
          <a:ln/>
        </p:spPr>
      </p:sp>
      <p:sp>
        <p:nvSpPr>
          <p:cNvPr id="27" name="Text 25"/>
          <p:cNvSpPr/>
          <p:nvPr/>
        </p:nvSpPr>
        <p:spPr>
          <a:xfrm>
            <a:off x="9573768" y="3291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Share of voice</a:t>
            </a:r>
            <a:endParaRPr lang="en-US" sz="1350" dirty="0"/>
          </a:p>
        </p:txBody>
      </p:sp>
      <p:sp>
        <p:nvSpPr>
          <p:cNvPr id="28" name="Shape 26"/>
          <p:cNvSpPr/>
          <p:nvPr/>
        </p:nvSpPr>
        <p:spPr>
          <a:xfrm>
            <a:off x="640080" y="4434840"/>
            <a:ext cx="2606040" cy="960120"/>
          </a:xfrm>
          <a:prstGeom prst="roundRect">
            <a:avLst>
              <a:gd name="adj" fmla="val 9524"/>
            </a:avLst>
          </a:prstGeom>
          <a:solidFill>
            <a:srgbClr val="FAFAFA"/>
          </a:solidFill>
          <a:ln w="12700">
            <a:solidFill>
              <a:srgbClr val="E5E5E5"/>
            </a:solidFill>
            <a:prstDash val="solid"/>
          </a:ln>
        </p:spPr>
      </p:sp>
      <p:sp>
        <p:nvSpPr>
          <p:cNvPr id="29" name="Shape 27"/>
          <p:cNvSpPr/>
          <p:nvPr/>
        </p:nvSpPr>
        <p:spPr>
          <a:xfrm>
            <a:off x="841248" y="4782312"/>
            <a:ext cx="256032" cy="256032"/>
          </a:xfrm>
          <a:prstGeom prst="ellipse">
            <a:avLst/>
          </a:prstGeom>
          <a:solidFill>
            <a:srgbClr val="F59E0B"/>
          </a:solidFill>
          <a:ln/>
        </p:spPr>
      </p:sp>
      <p:sp>
        <p:nvSpPr>
          <p:cNvPr id="30" name="Text 28"/>
          <p:cNvSpPr/>
          <p:nvPr/>
        </p:nvSpPr>
        <p:spPr>
          <a:xfrm>
            <a:off x="1207008" y="4434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Per-segment breakdown</a:t>
            </a:r>
            <a:endParaRPr lang="en-US" sz="1350" dirty="0"/>
          </a:p>
        </p:txBody>
      </p:sp>
      <p:sp>
        <p:nvSpPr>
          <p:cNvPr id="31" name="Shape 29"/>
          <p:cNvSpPr/>
          <p:nvPr/>
        </p:nvSpPr>
        <p:spPr>
          <a:xfrm>
            <a:off x="3429000" y="4434840"/>
            <a:ext cx="2606040" cy="960120"/>
          </a:xfrm>
          <a:prstGeom prst="roundRect">
            <a:avLst>
              <a:gd name="adj" fmla="val 9524"/>
            </a:avLst>
          </a:prstGeom>
          <a:solidFill>
            <a:srgbClr val="FAFAFA"/>
          </a:solidFill>
          <a:ln w="12700">
            <a:solidFill>
              <a:srgbClr val="E5E5E5"/>
            </a:solidFill>
            <a:prstDash val="solid"/>
          </a:ln>
        </p:spPr>
      </p:sp>
      <p:sp>
        <p:nvSpPr>
          <p:cNvPr id="32" name="Shape 30"/>
          <p:cNvSpPr/>
          <p:nvPr/>
        </p:nvSpPr>
        <p:spPr>
          <a:xfrm>
            <a:off x="3630168" y="4782312"/>
            <a:ext cx="256032" cy="256032"/>
          </a:xfrm>
          <a:prstGeom prst="ellipse">
            <a:avLst/>
          </a:prstGeom>
          <a:solidFill>
            <a:srgbClr val="F97316"/>
          </a:solidFill>
          <a:ln/>
        </p:spPr>
      </p:sp>
      <p:sp>
        <p:nvSpPr>
          <p:cNvPr id="33" name="Text 31"/>
          <p:cNvSpPr/>
          <p:nvPr/>
        </p:nvSpPr>
        <p:spPr>
          <a:xfrm>
            <a:off x="3995928" y="4434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Round-by-round curve</a:t>
            </a:r>
            <a:endParaRPr lang="en-US" sz="1350" dirty="0"/>
          </a:p>
        </p:txBody>
      </p:sp>
      <p:sp>
        <p:nvSpPr>
          <p:cNvPr id="34" name="Shape 32"/>
          <p:cNvSpPr/>
          <p:nvPr/>
        </p:nvSpPr>
        <p:spPr>
          <a:xfrm>
            <a:off x="6217920" y="4434840"/>
            <a:ext cx="2606040" cy="960120"/>
          </a:xfrm>
          <a:prstGeom prst="roundRect">
            <a:avLst>
              <a:gd name="adj" fmla="val 9524"/>
            </a:avLst>
          </a:prstGeom>
          <a:solidFill>
            <a:srgbClr val="FAFAFA"/>
          </a:solidFill>
          <a:ln w="12700">
            <a:solidFill>
              <a:srgbClr val="E5E5E5"/>
            </a:solidFill>
            <a:prstDash val="solid"/>
          </a:ln>
        </p:spPr>
      </p:sp>
      <p:sp>
        <p:nvSpPr>
          <p:cNvPr id="35" name="Shape 33"/>
          <p:cNvSpPr/>
          <p:nvPr/>
        </p:nvSpPr>
        <p:spPr>
          <a:xfrm>
            <a:off x="6419088" y="4782312"/>
            <a:ext cx="256032" cy="256032"/>
          </a:xfrm>
          <a:prstGeom prst="ellipse">
            <a:avLst/>
          </a:prstGeom>
          <a:solidFill>
            <a:srgbClr val="F59E0B"/>
          </a:solidFill>
          <a:ln/>
        </p:spPr>
      </p:sp>
      <p:sp>
        <p:nvSpPr>
          <p:cNvPr id="36" name="Text 34"/>
          <p:cNvSpPr/>
          <p:nvPr/>
        </p:nvSpPr>
        <p:spPr>
          <a:xfrm>
            <a:off x="6784848" y="4434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Purchase intent</a:t>
            </a:r>
            <a:endParaRPr lang="en-US" sz="1350" dirty="0"/>
          </a:p>
        </p:txBody>
      </p:sp>
      <p:sp>
        <p:nvSpPr>
          <p:cNvPr id="37" name="Shape 35"/>
          <p:cNvSpPr/>
          <p:nvPr/>
        </p:nvSpPr>
        <p:spPr>
          <a:xfrm>
            <a:off x="9006840" y="4434840"/>
            <a:ext cx="2606040" cy="960120"/>
          </a:xfrm>
          <a:prstGeom prst="roundRect">
            <a:avLst>
              <a:gd name="adj" fmla="val 9524"/>
            </a:avLst>
          </a:prstGeom>
          <a:solidFill>
            <a:srgbClr val="FAFAFA"/>
          </a:solidFill>
          <a:ln w="12700">
            <a:solidFill>
              <a:srgbClr val="E5E5E5"/>
            </a:solidFill>
            <a:prstDash val="solid"/>
          </a:ln>
        </p:spPr>
      </p:sp>
      <p:sp>
        <p:nvSpPr>
          <p:cNvPr id="38" name="Shape 36"/>
          <p:cNvSpPr/>
          <p:nvPr/>
        </p:nvSpPr>
        <p:spPr>
          <a:xfrm>
            <a:off x="9208008" y="4782312"/>
            <a:ext cx="256032" cy="256032"/>
          </a:xfrm>
          <a:prstGeom prst="ellipse">
            <a:avLst/>
          </a:prstGeom>
          <a:solidFill>
            <a:srgbClr val="F59E0B"/>
          </a:solidFill>
          <a:ln/>
        </p:spPr>
      </p:sp>
      <p:sp>
        <p:nvSpPr>
          <p:cNvPr id="39" name="Text 37"/>
          <p:cNvSpPr/>
          <p:nvPr/>
        </p:nvSpPr>
        <p:spPr>
          <a:xfrm>
            <a:off x="9573768" y="4434840"/>
            <a:ext cx="1965960" cy="960120"/>
          </a:xfrm>
          <a:prstGeom prst="rect">
            <a:avLst/>
          </a:prstGeom>
          <a:noFill/>
          <a:ln/>
        </p:spPr>
        <p:txBody>
          <a:bodyPr wrap="square"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Objections</a:t>
            </a:r>
            <a:endParaRPr lang="en-US" sz="1350" dirty="0"/>
          </a:p>
        </p:txBody>
      </p:sp>
      <p:sp>
        <p:nvSpPr>
          <p:cNvPr id="40" name="Text 38"/>
          <p:cNvSpPr/>
          <p:nvPr/>
        </p:nvSpPr>
        <p:spPr>
          <a:xfrm>
            <a:off x="640080" y="5943600"/>
            <a:ext cx="10972800" cy="457200"/>
          </a:xfrm>
          <a:prstGeom prst="rect">
            <a:avLst/>
          </a:prstGeom>
          <a:noFill/>
          <a:ln/>
        </p:spPr>
        <p:txBody>
          <a:bodyPr wrap="square" rtlCol="0" anchor="ctr"/>
          <a:lstStyle/>
          <a:p>
            <a:pPr indent="0" marL="0">
              <a:buNone/>
            </a:pPr>
            <a:r>
              <a:rPr lang="en-US" sz="1400" i="1" dirty="0">
                <a:solidFill>
                  <a:srgbClr val="666666"/>
                </a:solidFill>
                <a:latin typeface="Calibri" pitchFamily="34" charset="0"/>
                <a:ea typeface="Calibri" pitchFamily="34" charset="-122"/>
                <a:cs typeface="Calibri" pitchFamily="34" charset="-120"/>
              </a:rPr>
              <a:t>All in the report — and as JSON from  GET /api/simulation/&lt;id&gt;/campaign-metrics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C1C1C"/>
          </a:solidFill>
          <a:ln/>
        </p:spPr>
      </p:sp>
      <p:sp>
        <p:nvSpPr>
          <p:cNvPr id="3" name="Shape 1"/>
          <p:cNvSpPr/>
          <p:nvPr/>
        </p:nvSpPr>
        <p:spPr>
          <a:xfrm>
            <a:off x="10607040" y="-1554480"/>
            <a:ext cx="3108960" cy="3108960"/>
          </a:xfrm>
          <a:prstGeom prst="ellipse">
            <a:avLst/>
          </a:prstGeom>
          <a:solidFill>
            <a:srgbClr val="F97316"/>
          </a:solidFill>
          <a:ln/>
        </p:spPr>
      </p:sp>
      <p:sp>
        <p:nvSpPr>
          <p:cNvPr id="4" name="Text 2"/>
          <p:cNvSpPr/>
          <p:nvPr/>
        </p:nvSpPr>
        <p:spPr>
          <a:xfrm>
            <a:off x="731520" y="1280160"/>
            <a:ext cx="7315200" cy="457200"/>
          </a:xfrm>
          <a:prstGeom prst="rect">
            <a:avLst/>
          </a:prstGeom>
          <a:noFill/>
          <a:ln/>
        </p:spPr>
        <p:txBody>
          <a:bodyPr wrap="square" rtlCol="0" anchor="ctr"/>
          <a:lstStyle/>
          <a:p>
            <a:pPr indent="0" marL="0">
              <a:buNone/>
            </a:pPr>
            <a:r>
              <a:rPr lang="en-US" sz="1500" b="1" spc="300" kern="0" dirty="0">
                <a:solidFill>
                  <a:srgbClr val="F97316"/>
                </a:solidFill>
                <a:latin typeface="Calibri" pitchFamily="34" charset="0"/>
                <a:ea typeface="Calibri" pitchFamily="34" charset="-122"/>
                <a:cs typeface="Calibri" pitchFamily="34" charset="-120"/>
              </a:rPr>
              <a:t>In one line</a:t>
            </a:r>
            <a:endParaRPr lang="en-US" sz="1500" dirty="0"/>
          </a:p>
        </p:txBody>
      </p:sp>
      <p:sp>
        <p:nvSpPr>
          <p:cNvPr id="5" name="Text 3"/>
          <p:cNvSpPr/>
          <p:nvPr/>
        </p:nvSpPr>
        <p:spPr>
          <a:xfrm>
            <a:off x="713232" y="1737360"/>
            <a:ext cx="10241280" cy="1645920"/>
          </a:xfrm>
          <a:prstGeom prst="rect">
            <a:avLst/>
          </a:prstGeom>
          <a:noFill/>
          <a:ln/>
        </p:spPr>
        <p:txBody>
          <a:bodyPr wrap="square" rtlCol="0" anchor="ctr"/>
          <a:lstStyle/>
          <a:p>
            <a:pPr indent="0" marL="0">
              <a:lnSpc>
                <a:spcPct val="105000"/>
              </a:lnSpc>
              <a:buNone/>
            </a:pPr>
            <a:r>
              <a:rPr lang="en-US" sz="3400" b="1" dirty="0">
                <a:solidFill>
                  <a:srgbClr val="FFFFFF"/>
                </a:solidFill>
                <a:latin typeface="Calibri" pitchFamily="34" charset="0"/>
                <a:ea typeface="Calibri" pitchFamily="34" charset="-122"/>
                <a:cs typeface="Calibri" pitchFamily="34" charset="-120"/>
              </a:rPr>
              <a:t>Pre-flight a campaign against a</a:t>
            </a:r>
            <a:endParaRPr lang="en-US" sz="3400" dirty="0"/>
          </a:p>
          <a:p>
            <a:pPr indent="0" marL="0">
              <a:lnSpc>
                <a:spcPct val="105000"/>
              </a:lnSpc>
              <a:buNone/>
            </a:pPr>
            <a:r>
              <a:rPr lang="en-US" sz="3400" b="1" dirty="0">
                <a:solidFill>
                  <a:srgbClr val="FFFFFF"/>
                </a:solidFill>
                <a:latin typeface="Calibri" pitchFamily="34" charset="0"/>
                <a:ea typeface="Calibri" pitchFamily="34" charset="-122"/>
                <a:cs typeface="Calibri" pitchFamily="34" charset="-120"/>
              </a:rPr>
              <a:t>synthetic audience — measured, not guessed.</a:t>
            </a:r>
            <a:endParaRPr lang="en-US" sz="3400" dirty="0"/>
          </a:p>
        </p:txBody>
      </p:sp>
      <p:sp>
        <p:nvSpPr>
          <p:cNvPr id="6" name="Shape 4"/>
          <p:cNvSpPr/>
          <p:nvPr/>
        </p:nvSpPr>
        <p:spPr>
          <a:xfrm>
            <a:off x="731520" y="3749040"/>
            <a:ext cx="548640" cy="548640"/>
          </a:xfrm>
          <a:prstGeom prst="ellipse">
            <a:avLst/>
          </a:prstGeom>
          <a:solidFill>
            <a:srgbClr val="F97316"/>
          </a:solidFill>
          <a:ln/>
        </p:spPr>
      </p:sp>
      <p:sp>
        <p:nvSpPr>
          <p:cNvPr id="7" name="Text 5"/>
          <p:cNvSpPr/>
          <p:nvPr/>
        </p:nvSpPr>
        <p:spPr>
          <a:xfrm>
            <a:off x="731520" y="374904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463040" y="3730752"/>
            <a:ext cx="21945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Run it</a:t>
            </a:r>
            <a:endParaRPr lang="en-US" sz="1800" dirty="0"/>
          </a:p>
        </p:txBody>
      </p:sp>
      <p:sp>
        <p:nvSpPr>
          <p:cNvPr id="9" name="Text 7"/>
          <p:cNvSpPr/>
          <p:nvPr/>
        </p:nvSpPr>
        <p:spPr>
          <a:xfrm>
            <a:off x="3566160" y="3730752"/>
            <a:ext cx="7863840" cy="594360"/>
          </a:xfrm>
          <a:prstGeom prst="rect">
            <a:avLst/>
          </a:prstGeom>
          <a:noFill/>
          <a:ln/>
        </p:spPr>
        <p:txBody>
          <a:bodyPr wrap="square" rtlCol="0" anchor="ctr"/>
          <a:lstStyle/>
          <a:p>
            <a:pPr indent="0" marL="0">
              <a:buNone/>
            </a:pPr>
            <a:r>
              <a:rPr lang="en-US" sz="1400" dirty="0">
                <a:solidFill>
                  <a:srgbClr val="CFCFCF"/>
                </a:solidFill>
                <a:latin typeface="Calibri" pitchFamily="34" charset="0"/>
                <a:ea typeface="Calibri" pitchFamily="34" charset="-122"/>
                <a:cs typeface="Calibri" pitchFamily="34" charset="-120"/>
              </a:rPr>
              <a:t>npm run setup:all  →  npm run dev   ·   or  docker compose up -d</a:t>
            </a:r>
            <a:endParaRPr lang="en-US" sz="1400" dirty="0"/>
          </a:p>
        </p:txBody>
      </p:sp>
      <p:sp>
        <p:nvSpPr>
          <p:cNvPr id="10" name="Shape 8"/>
          <p:cNvSpPr/>
          <p:nvPr/>
        </p:nvSpPr>
        <p:spPr>
          <a:xfrm>
            <a:off x="731520" y="4617720"/>
            <a:ext cx="548640" cy="548640"/>
          </a:xfrm>
          <a:prstGeom prst="ellipse">
            <a:avLst/>
          </a:prstGeom>
          <a:solidFill>
            <a:srgbClr val="F59E0B"/>
          </a:solidFill>
          <a:ln/>
        </p:spPr>
      </p:sp>
      <p:sp>
        <p:nvSpPr>
          <p:cNvPr id="11" name="Text 9"/>
          <p:cNvSpPr/>
          <p:nvPr/>
        </p:nvSpPr>
        <p:spPr>
          <a:xfrm>
            <a:off x="731520" y="4617720"/>
            <a:ext cx="548640" cy="54864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463040" y="4599432"/>
            <a:ext cx="21945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Try it</a:t>
            </a:r>
            <a:endParaRPr lang="en-US" sz="1800" dirty="0"/>
          </a:p>
        </p:txBody>
      </p:sp>
      <p:sp>
        <p:nvSpPr>
          <p:cNvPr id="13" name="Text 11"/>
          <p:cNvSpPr/>
          <p:nvPr/>
        </p:nvSpPr>
        <p:spPr>
          <a:xfrm>
            <a:off x="3566160" y="4599432"/>
            <a:ext cx="7863840" cy="594360"/>
          </a:xfrm>
          <a:prstGeom prst="rect">
            <a:avLst/>
          </a:prstGeom>
          <a:noFill/>
          <a:ln/>
        </p:spPr>
        <p:txBody>
          <a:bodyPr wrap="square" rtlCol="0" anchor="ctr"/>
          <a:lstStyle/>
          <a:p>
            <a:pPr indent="0" marL="0">
              <a:buNone/>
            </a:pPr>
            <a:r>
              <a:rPr lang="en-US" sz="1400" dirty="0">
                <a:solidFill>
                  <a:srgbClr val="CFCFCF"/>
                </a:solidFill>
                <a:latin typeface="Calibri" pitchFamily="34" charset="0"/>
                <a:ea typeface="Calibri" pitchFamily="34" charset="-122"/>
                <a:cs typeface="Calibri" pitchFamily="34" charset="-120"/>
              </a:rPr>
              <a:t>Frontend :3000 · Backend :5001 · start under 40 rounds — tokens add up</a:t>
            </a:r>
            <a:endParaRPr lang="en-US" sz="1400" dirty="0"/>
          </a:p>
        </p:txBody>
      </p:sp>
      <p:sp>
        <p:nvSpPr>
          <p:cNvPr id="14" name="Shape 12"/>
          <p:cNvSpPr/>
          <p:nvPr/>
        </p:nvSpPr>
        <p:spPr>
          <a:xfrm>
            <a:off x="731520" y="5486400"/>
            <a:ext cx="548640" cy="548640"/>
          </a:xfrm>
          <a:prstGeom prst="ellipse">
            <a:avLst/>
          </a:prstGeom>
          <a:solidFill>
            <a:srgbClr val="F97316"/>
          </a:solidFill>
          <a:ln/>
        </p:spPr>
      </p:sp>
      <p:sp>
        <p:nvSpPr>
          <p:cNvPr id="15" name="Text 13"/>
          <p:cNvSpPr/>
          <p:nvPr/>
        </p:nvSpPr>
        <p:spPr>
          <a:xfrm>
            <a:off x="731520" y="548640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463040" y="5468112"/>
            <a:ext cx="2194560" cy="5486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Built on</a:t>
            </a:r>
            <a:endParaRPr lang="en-US" sz="1800" dirty="0"/>
          </a:p>
        </p:txBody>
      </p:sp>
      <p:sp>
        <p:nvSpPr>
          <p:cNvPr id="17" name="Text 15"/>
          <p:cNvSpPr/>
          <p:nvPr/>
        </p:nvSpPr>
        <p:spPr>
          <a:xfrm>
            <a:off x="3566160" y="5468112"/>
            <a:ext cx="7863840" cy="594360"/>
          </a:xfrm>
          <a:prstGeom prst="rect">
            <a:avLst/>
          </a:prstGeom>
          <a:noFill/>
          <a:ln/>
        </p:spPr>
        <p:txBody>
          <a:bodyPr wrap="square" rtlCol="0" anchor="ctr"/>
          <a:lstStyle/>
          <a:p>
            <a:pPr indent="0" marL="0">
              <a:buNone/>
            </a:pPr>
            <a:r>
              <a:rPr lang="en-US" sz="1400" dirty="0">
                <a:solidFill>
                  <a:srgbClr val="CFCFCF"/>
                </a:solidFill>
                <a:latin typeface="Calibri" pitchFamily="34" charset="0"/>
                <a:ea typeface="Calibri" pitchFamily="34" charset="-122"/>
                <a:cs typeface="Calibri" pitchFamily="34" charset="-120"/>
              </a:rPr>
              <a:t>Forked from MiroFish · OASIS by CAMEL-AI · memory by Zep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2026-07-30T02:22:03Z</dcterms:created>
  <dcterms:modified xsi:type="dcterms:W3CDTF">2026-07-30T02:22:03Z</dcterms:modified>
</cp:coreProperties>
</file>