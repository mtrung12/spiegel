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Spiegel — German for mirror. It lets a marketer test a campaign against simulated customers before spending real budget. Around five dollars a test, two simulated feeds, twelve measured KPIs. Upload your ideas, get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product is one linear flow, exactly what the UI shows: read the campaign, build the customers, run the campaign, measure and report, then ask follow-ups. The next five slides walk these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Read the campaign. Generates an ontology from your files, then builds a GraphRAG knowledge graph on Zep Cloud — dashboard shows entity nodes, relation edges, schema types. Optionally an audience-research crawler pulls real public discussion to ground the graph. Button: Build the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Build the customers. Graph entities become customer personas with four dimensions — category experience, purchase behaviour, brand attitude, media habits. Configure the two feeds, Info Plaza and Topic Community. Creative seeded as opening posts. Button: Release Campaign to Both Feeds — tip to keep first runs under 40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Run the campaign. OASIS engine drives both feeds; customers react over N rounds. Watch live via Action Stream and Feed Board. Then Measure KPIs and Generate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Measure and report. Every action is counted into KPIs — not LLM-estimated — and a Report Agent turns them into a Campaign Assessment with a fixed five-section outline: who saw it, how they reacted, how far it spread, which groups liked it and which didn't, and what to fix before launch. The last section quotes objections verbatim and gives prioritised recommendations. Button: Interview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Ask follow-ups. Chat with the Report Agent, interview any individual customer, or put one question to an entire segment. This is where purchase intent and objections — the things you can't count from likes —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Spiegel is five steps that mirror your campaign back as measured KPIs before you spend. Runs with npm or Docker, frontend 3000, backend 5001. Forked from MiroFish, built on OASIS and Zep.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9692640" y="-2103120"/>
            <a:ext cx="5486400" cy="5486400"/>
          </a:xfrm>
          <a:prstGeom prst="ellipse">
            <a:avLst/>
          </a:prstGeom>
          <a:solidFill>
            <a:srgbClr val="1C1C1C"/>
          </a:solidFill>
          <a:ln/>
        </p:spPr>
      </p:sp>
      <p:sp>
        <p:nvSpPr>
          <p:cNvPr id="3" name="Shape 1"/>
          <p:cNvSpPr/>
          <p:nvPr/>
        </p:nvSpPr>
        <p:spPr>
          <a:xfrm>
            <a:off x="10881360" y="4297680"/>
            <a:ext cx="2926080" cy="2926080"/>
          </a:xfrm>
          <a:prstGeom prst="ellipse">
            <a:avLst/>
          </a:prstGeom>
          <a:solidFill>
            <a:srgbClr val="F97316"/>
          </a:solidFill>
          <a:ln/>
        </p:spPr>
      </p:sp>
      <p:sp>
        <p:nvSpPr>
          <p:cNvPr id="4" name="Text 2"/>
          <p:cNvSpPr/>
          <p:nvPr/>
        </p:nvSpPr>
        <p:spPr>
          <a:xfrm>
            <a:off x="640080" y="868680"/>
            <a:ext cx="7315200" cy="640080"/>
          </a:xfrm>
          <a:prstGeom prst="rect">
            <a:avLst/>
          </a:prstGeom>
          <a:noFill/>
          <a:ln/>
        </p:spPr>
        <p:txBody>
          <a:bodyPr wrap="square" rtlCol="0" anchor="ctr"/>
          <a:lstStyle/>
          <a:p>
            <a:pPr indent="0" marL="0">
              <a:buNone/>
            </a:pPr>
            <a:r>
              <a:rPr lang="en-US" sz="3000" b="1" spc="600" kern="0" dirty="0">
                <a:solidFill>
                  <a:srgbClr val="F97316"/>
                </a:solidFill>
                <a:latin typeface="Calibri" pitchFamily="34" charset="0"/>
                <a:ea typeface="Calibri" pitchFamily="34" charset="-122"/>
                <a:cs typeface="Calibri" pitchFamily="34" charset="-120"/>
              </a:rPr>
              <a:t>SPIEGEL</a:t>
            </a:r>
            <a:endParaRPr lang="en-US" sz="3000" dirty="0"/>
          </a:p>
        </p:txBody>
      </p:sp>
      <p:sp>
        <p:nvSpPr>
          <p:cNvPr id="5" name="Text 3"/>
          <p:cNvSpPr/>
          <p:nvPr/>
        </p:nvSpPr>
        <p:spPr>
          <a:xfrm>
            <a:off x="3063240" y="1024128"/>
            <a:ext cx="2743200" cy="365760"/>
          </a:xfrm>
          <a:prstGeom prst="rect">
            <a:avLst/>
          </a:prstGeom>
          <a:noFill/>
          <a:ln/>
        </p:spPr>
        <p:txBody>
          <a:bodyPr wrap="square" rtlCol="0" anchor="ctr"/>
          <a:lstStyle/>
          <a:p>
            <a:pPr indent="0" marL="0">
              <a:buNone/>
            </a:pPr>
            <a:r>
              <a:rPr lang="en-US" sz="1300" i="1" dirty="0">
                <a:solidFill>
                  <a:srgbClr val="8A8A8A"/>
                </a:solidFill>
                <a:latin typeface="Calibri" pitchFamily="34" charset="0"/>
                <a:ea typeface="Calibri" pitchFamily="34" charset="-122"/>
                <a:cs typeface="Calibri" pitchFamily="34" charset="-120"/>
              </a:rPr>
              <a:t>v0.1 · Preview</a:t>
            </a:r>
            <a:endParaRPr lang="en-US" sz="1300" dirty="0"/>
          </a:p>
        </p:txBody>
      </p:sp>
      <p:sp>
        <p:nvSpPr>
          <p:cNvPr id="6" name="Text 4"/>
          <p:cNvSpPr/>
          <p:nvPr/>
        </p:nvSpPr>
        <p:spPr>
          <a:xfrm>
            <a:off x="621792" y="1554480"/>
            <a:ext cx="10058400" cy="1737360"/>
          </a:xfrm>
          <a:prstGeom prst="rect">
            <a:avLst/>
          </a:prstGeom>
          <a:noFill/>
          <a:ln/>
        </p:spPr>
        <p:txBody>
          <a:bodyPr wrap="square" rtlCol="0" anchor="ctr"/>
          <a:lstStyle/>
          <a:p>
            <a:pPr indent="0" marL="0">
              <a:lnSpc>
                <a:spcPct val="103000"/>
              </a:lnSpc>
              <a:buNone/>
            </a:pPr>
            <a:r>
              <a:rPr lang="en-US" sz="4200" b="1" dirty="0">
                <a:solidFill>
                  <a:srgbClr val="FFFFFF"/>
                </a:solidFill>
                <a:latin typeface="Calibri" pitchFamily="34" charset="0"/>
                <a:ea typeface="Calibri" pitchFamily="34" charset="-122"/>
                <a:cs typeface="Calibri" pitchFamily="34" charset="-120"/>
              </a:rPr>
              <a:t>Simulate customer behaviour</a:t>
            </a:r>
            <a:endParaRPr lang="en-US" sz="4200" dirty="0"/>
          </a:p>
          <a:p>
            <a:pPr indent="0" marL="0">
              <a:lnSpc>
                <a:spcPct val="103000"/>
              </a:lnSpc>
              <a:buNone/>
            </a:pPr>
            <a:r>
              <a:rPr lang="en-US" sz="4200" b="1" dirty="0">
                <a:solidFill>
                  <a:srgbClr val="FFFFFF"/>
                </a:solidFill>
                <a:latin typeface="Calibri" pitchFamily="34" charset="0"/>
                <a:ea typeface="Calibri" pitchFamily="34" charset="-122"/>
                <a:cs typeface="Calibri" pitchFamily="34" charset="-120"/>
              </a:rPr>
              <a:t>before you launch.</a:t>
            </a:r>
            <a:endParaRPr lang="en-US" sz="4200" dirty="0"/>
          </a:p>
        </p:txBody>
      </p:sp>
      <p:sp>
        <p:nvSpPr>
          <p:cNvPr id="7" name="Text 5"/>
          <p:cNvSpPr/>
          <p:nvPr/>
        </p:nvSpPr>
        <p:spPr>
          <a:xfrm>
            <a:off x="640080" y="3429000"/>
            <a:ext cx="8686800" cy="822960"/>
          </a:xfrm>
          <a:prstGeom prst="rect">
            <a:avLst/>
          </a:prstGeom>
          <a:noFill/>
          <a:ln/>
        </p:spPr>
        <p:txBody>
          <a:bodyPr wrap="square" rtlCol="0" anchor="ctr"/>
          <a:lstStyle/>
          <a:p>
            <a:pPr indent="0" marL="0">
              <a:lnSpc>
                <a:spcPct val="115000"/>
              </a:lnSpc>
              <a:buNone/>
            </a:pPr>
            <a:r>
              <a:rPr lang="en-US" sz="1700" dirty="0">
                <a:solidFill>
                  <a:srgbClr val="D0D0D0"/>
                </a:solidFill>
                <a:latin typeface="Calibri" pitchFamily="34" charset="0"/>
                <a:ea typeface="Calibri" pitchFamily="34" charset="-122"/>
                <a:cs typeface="Calibri" pitchFamily="34" charset="-120"/>
              </a:rPr>
              <a:t>Test the campaign on simulated customers, not on your budget. Upload your ideas, get the assessment.</a:t>
            </a:r>
            <a:endParaRPr lang="en-US" sz="1700" dirty="0"/>
          </a:p>
        </p:txBody>
      </p:sp>
      <p:sp>
        <p:nvSpPr>
          <p:cNvPr id="8" name="Shape 6"/>
          <p:cNvSpPr/>
          <p:nvPr/>
        </p:nvSpPr>
        <p:spPr>
          <a:xfrm>
            <a:off x="640080" y="4572000"/>
            <a:ext cx="2514600" cy="1554480"/>
          </a:xfrm>
          <a:prstGeom prst="roundRect">
            <a:avLst>
              <a:gd name="adj" fmla="val 5882"/>
            </a:avLst>
          </a:prstGeom>
          <a:solidFill>
            <a:srgbClr val="1C1C1C"/>
          </a:solidFill>
          <a:ln/>
        </p:spPr>
      </p:sp>
      <p:sp>
        <p:nvSpPr>
          <p:cNvPr id="9" name="Text 7"/>
          <p:cNvSpPr/>
          <p:nvPr/>
        </p:nvSpPr>
        <p:spPr>
          <a:xfrm>
            <a:off x="640080" y="4709160"/>
            <a:ext cx="2514600" cy="822960"/>
          </a:xfrm>
          <a:prstGeom prst="rect">
            <a:avLst/>
          </a:prstGeom>
          <a:noFill/>
          <a:ln/>
        </p:spPr>
        <p:txBody>
          <a:bodyPr wrap="square" rtlCol="0" anchor="ctr"/>
          <a:lstStyle/>
          <a:p>
            <a:pPr algn="ctr" indent="0" marL="0">
              <a:buNone/>
            </a:pPr>
            <a:r>
              <a:rPr lang="en-US" sz="4600" b="1" dirty="0">
                <a:solidFill>
                  <a:srgbClr val="F97316"/>
                </a:solidFill>
                <a:latin typeface="Calibri" pitchFamily="34" charset="0"/>
                <a:ea typeface="Calibri" pitchFamily="34" charset="-122"/>
                <a:cs typeface="Calibri" pitchFamily="34" charset="-120"/>
              </a:rPr>
              <a:t>~$5</a:t>
            </a:r>
            <a:endParaRPr lang="en-US" sz="4600" dirty="0"/>
          </a:p>
        </p:txBody>
      </p:sp>
      <p:sp>
        <p:nvSpPr>
          <p:cNvPr id="10" name="Text 8"/>
          <p:cNvSpPr/>
          <p:nvPr/>
        </p:nvSpPr>
        <p:spPr>
          <a:xfrm>
            <a:off x="640080" y="5532120"/>
            <a:ext cx="2514600" cy="457200"/>
          </a:xfrm>
          <a:prstGeom prst="rect">
            <a:avLst/>
          </a:prstGeom>
          <a:noFill/>
          <a:ln/>
        </p:spPr>
        <p:txBody>
          <a:bodyPr wrap="square" rtlCol="0" anchor="ctr"/>
          <a:lstStyle/>
          <a:p>
            <a:pPr algn="ctr" indent="0" marL="0">
              <a:buNone/>
            </a:pPr>
            <a:r>
              <a:rPr lang="en-US" sz="1400" dirty="0">
                <a:solidFill>
                  <a:srgbClr val="CFCFCF"/>
                </a:solidFill>
                <a:latin typeface="Calibri" pitchFamily="34" charset="0"/>
                <a:ea typeface="Calibri" pitchFamily="34" charset="-122"/>
                <a:cs typeface="Calibri" pitchFamily="34" charset="-120"/>
              </a:rPr>
              <a:t>per test</a:t>
            </a:r>
            <a:endParaRPr lang="en-US" sz="1400" dirty="0"/>
          </a:p>
        </p:txBody>
      </p:sp>
      <p:sp>
        <p:nvSpPr>
          <p:cNvPr id="11" name="Shape 9"/>
          <p:cNvSpPr/>
          <p:nvPr/>
        </p:nvSpPr>
        <p:spPr>
          <a:xfrm>
            <a:off x="3429000" y="4572000"/>
            <a:ext cx="2514600" cy="1554480"/>
          </a:xfrm>
          <a:prstGeom prst="roundRect">
            <a:avLst>
              <a:gd name="adj" fmla="val 5882"/>
            </a:avLst>
          </a:prstGeom>
          <a:solidFill>
            <a:srgbClr val="1C1C1C"/>
          </a:solidFill>
          <a:ln/>
        </p:spPr>
      </p:sp>
      <p:sp>
        <p:nvSpPr>
          <p:cNvPr id="12" name="Text 10"/>
          <p:cNvSpPr/>
          <p:nvPr/>
        </p:nvSpPr>
        <p:spPr>
          <a:xfrm>
            <a:off x="3429000" y="4709160"/>
            <a:ext cx="2514600" cy="822960"/>
          </a:xfrm>
          <a:prstGeom prst="rect">
            <a:avLst/>
          </a:prstGeom>
          <a:noFill/>
          <a:ln/>
        </p:spPr>
        <p:txBody>
          <a:bodyPr wrap="square" rtlCol="0" anchor="ctr"/>
          <a:lstStyle/>
          <a:p>
            <a:pPr algn="ctr" indent="0" marL="0">
              <a:buNone/>
            </a:pPr>
            <a:r>
              <a:rPr lang="en-US" sz="4600" b="1" dirty="0">
                <a:solidFill>
                  <a:srgbClr val="F97316"/>
                </a:solidFill>
                <a:latin typeface="Calibri" pitchFamily="34" charset="0"/>
                <a:ea typeface="Calibri" pitchFamily="34" charset="-122"/>
                <a:cs typeface="Calibri" pitchFamily="34" charset="-120"/>
              </a:rPr>
              <a:t>2</a:t>
            </a:r>
            <a:endParaRPr lang="en-US" sz="4600" dirty="0"/>
          </a:p>
        </p:txBody>
      </p:sp>
      <p:sp>
        <p:nvSpPr>
          <p:cNvPr id="13" name="Text 11"/>
          <p:cNvSpPr/>
          <p:nvPr/>
        </p:nvSpPr>
        <p:spPr>
          <a:xfrm>
            <a:off x="3429000" y="5532120"/>
            <a:ext cx="2514600" cy="457200"/>
          </a:xfrm>
          <a:prstGeom prst="rect">
            <a:avLst/>
          </a:prstGeom>
          <a:noFill/>
          <a:ln/>
        </p:spPr>
        <p:txBody>
          <a:bodyPr wrap="square" rtlCol="0" anchor="ctr"/>
          <a:lstStyle/>
          <a:p>
            <a:pPr algn="ctr" indent="0" marL="0">
              <a:buNone/>
            </a:pPr>
            <a:r>
              <a:rPr lang="en-US" sz="1400" dirty="0">
                <a:solidFill>
                  <a:srgbClr val="CFCFCF"/>
                </a:solidFill>
                <a:latin typeface="Calibri" pitchFamily="34" charset="0"/>
                <a:ea typeface="Calibri" pitchFamily="34" charset="-122"/>
                <a:cs typeface="Calibri" pitchFamily="34" charset="-120"/>
              </a:rPr>
              <a:t>simulated feeds</a:t>
            </a:r>
            <a:endParaRPr lang="en-US" sz="1400" dirty="0"/>
          </a:p>
        </p:txBody>
      </p:sp>
      <p:sp>
        <p:nvSpPr>
          <p:cNvPr id="14" name="Shape 12"/>
          <p:cNvSpPr/>
          <p:nvPr/>
        </p:nvSpPr>
        <p:spPr>
          <a:xfrm>
            <a:off x="6217920" y="4572000"/>
            <a:ext cx="2514600" cy="1554480"/>
          </a:xfrm>
          <a:prstGeom prst="roundRect">
            <a:avLst>
              <a:gd name="adj" fmla="val 5882"/>
            </a:avLst>
          </a:prstGeom>
          <a:solidFill>
            <a:srgbClr val="1C1C1C"/>
          </a:solidFill>
          <a:ln/>
        </p:spPr>
      </p:sp>
      <p:sp>
        <p:nvSpPr>
          <p:cNvPr id="15" name="Text 13"/>
          <p:cNvSpPr/>
          <p:nvPr/>
        </p:nvSpPr>
        <p:spPr>
          <a:xfrm>
            <a:off x="6217920" y="4709160"/>
            <a:ext cx="2514600" cy="822960"/>
          </a:xfrm>
          <a:prstGeom prst="rect">
            <a:avLst/>
          </a:prstGeom>
          <a:noFill/>
          <a:ln/>
        </p:spPr>
        <p:txBody>
          <a:bodyPr wrap="square" rtlCol="0" anchor="ctr"/>
          <a:lstStyle/>
          <a:p>
            <a:pPr algn="ctr" indent="0" marL="0">
              <a:buNone/>
            </a:pPr>
            <a:r>
              <a:rPr lang="en-US" sz="4600" b="1" dirty="0">
                <a:solidFill>
                  <a:srgbClr val="F97316"/>
                </a:solidFill>
                <a:latin typeface="Calibri" pitchFamily="34" charset="0"/>
                <a:ea typeface="Calibri" pitchFamily="34" charset="-122"/>
                <a:cs typeface="Calibri" pitchFamily="34" charset="-120"/>
              </a:rPr>
              <a:t>12</a:t>
            </a:r>
            <a:endParaRPr lang="en-US" sz="4600" dirty="0"/>
          </a:p>
        </p:txBody>
      </p:sp>
      <p:sp>
        <p:nvSpPr>
          <p:cNvPr id="16" name="Text 14"/>
          <p:cNvSpPr/>
          <p:nvPr/>
        </p:nvSpPr>
        <p:spPr>
          <a:xfrm>
            <a:off x="6217920" y="5532120"/>
            <a:ext cx="2514600" cy="457200"/>
          </a:xfrm>
          <a:prstGeom prst="rect">
            <a:avLst/>
          </a:prstGeom>
          <a:noFill/>
          <a:ln/>
        </p:spPr>
        <p:txBody>
          <a:bodyPr wrap="square" rtlCol="0" anchor="ctr"/>
          <a:lstStyle/>
          <a:p>
            <a:pPr algn="ctr" indent="0" marL="0">
              <a:buNone/>
            </a:pPr>
            <a:r>
              <a:rPr lang="en-US" sz="1400" dirty="0">
                <a:solidFill>
                  <a:srgbClr val="CFCFCF"/>
                </a:solidFill>
                <a:latin typeface="Calibri" pitchFamily="34" charset="0"/>
                <a:ea typeface="Calibri" pitchFamily="34" charset="-122"/>
                <a:cs typeface="Calibri" pitchFamily="34" charset="-120"/>
              </a:rPr>
              <a:t>measured KPIs</a:t>
            </a:r>
            <a:endParaRPr lang="en-US" sz="1400" dirty="0"/>
          </a:p>
        </p:txBody>
      </p:sp>
      <p:sp>
        <p:nvSpPr>
          <p:cNvPr id="17" name="Text 15"/>
          <p:cNvSpPr/>
          <p:nvPr/>
        </p:nvSpPr>
        <p:spPr>
          <a:xfrm>
            <a:off x="9144000" y="6309360"/>
            <a:ext cx="2834640" cy="822960"/>
          </a:xfrm>
          <a:prstGeom prst="rect">
            <a:avLst/>
          </a:prstGeom>
          <a:noFill/>
          <a:ln/>
        </p:spPr>
        <p:txBody>
          <a:bodyPr wrap="square" rtlCol="0" anchor="ctr"/>
          <a:lstStyle/>
          <a:p>
            <a:pPr algn="r" indent="0" marL="0">
              <a:lnSpc>
                <a:spcPct val="110000"/>
              </a:lnSpc>
              <a:buNone/>
            </a:pPr>
            <a:r>
              <a:rPr lang="en-US" sz="1100" i="1" dirty="0">
                <a:solidFill>
                  <a:srgbClr val="8A8A8A"/>
                </a:solidFill>
                <a:latin typeface="Calibri" pitchFamily="34" charset="0"/>
                <a:ea typeface="Calibri" pitchFamily="34" charset="-122"/>
                <a:cs typeface="Calibri" pitchFamily="34" charset="-120"/>
              </a:rPr>
              <a:t>Vue + Flask · Zep GraphRAG · OASIS simulation · any OpenAI-compatible LLM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457200"/>
          </a:xfrm>
          <a:prstGeom prst="rect">
            <a:avLst/>
          </a:prstGeom>
          <a:noFill/>
          <a:ln/>
        </p:spPr>
        <p:txBody>
          <a:bodyPr wrap="square" rtlCol="0" anchor="ctr"/>
          <a:lstStyle/>
          <a:p>
            <a:pPr indent="0" marL="0">
              <a:buNone/>
            </a:pPr>
            <a:r>
              <a:rPr lang="en-US" sz="1500" b="1" spc="300" kern="0" dirty="0">
                <a:solidFill>
                  <a:srgbClr val="F97316"/>
                </a:solidFill>
                <a:latin typeface="Calibri" pitchFamily="34" charset="0"/>
                <a:ea typeface="Calibri" pitchFamily="34" charset="-122"/>
                <a:cs typeface="Calibri" pitchFamily="34" charset="-120"/>
              </a:rPr>
              <a:t>How it works</a:t>
            </a:r>
            <a:endParaRPr lang="en-US" sz="1500" dirty="0"/>
          </a:p>
        </p:txBody>
      </p:sp>
      <p:sp>
        <p:nvSpPr>
          <p:cNvPr id="3" name="Text 1"/>
          <p:cNvSpPr/>
          <p:nvPr/>
        </p:nvSpPr>
        <p:spPr>
          <a:xfrm>
            <a:off x="640080" y="914400"/>
            <a:ext cx="10972800" cy="731520"/>
          </a:xfrm>
          <a:prstGeom prst="rect">
            <a:avLst/>
          </a:prstGeom>
          <a:noFill/>
          <a:ln/>
        </p:spPr>
        <p:txBody>
          <a:bodyPr wrap="square" rtlCol="0" anchor="ctr"/>
          <a:lstStyle/>
          <a:p>
            <a:pPr indent="0" marL="0">
              <a:buNone/>
            </a:pPr>
            <a:r>
              <a:rPr lang="en-US" sz="2800" b="1" dirty="0">
                <a:solidFill>
                  <a:srgbClr val="111111"/>
                </a:solidFill>
                <a:latin typeface="Calibri" pitchFamily="34" charset="0"/>
                <a:ea typeface="Calibri" pitchFamily="34" charset="-122"/>
                <a:cs typeface="Calibri" pitchFamily="34" charset="-120"/>
              </a:rPr>
              <a:t>Five steps, exactly as the app walks you through them</a:t>
            </a:r>
            <a:endParaRPr lang="en-US" sz="2800" dirty="0"/>
          </a:p>
        </p:txBody>
      </p:sp>
      <p:sp>
        <p:nvSpPr>
          <p:cNvPr id="4" name="Shape 2"/>
          <p:cNvSpPr/>
          <p:nvPr/>
        </p:nvSpPr>
        <p:spPr>
          <a:xfrm>
            <a:off x="640080" y="2103120"/>
            <a:ext cx="2121408" cy="3931920"/>
          </a:xfrm>
          <a:prstGeom prst="roundRect">
            <a:avLst>
              <a:gd name="adj" fmla="val 4310"/>
            </a:avLst>
          </a:prstGeom>
          <a:solidFill>
            <a:srgbClr val="FAFAFA"/>
          </a:solidFill>
          <a:ln w="12700">
            <a:solidFill>
              <a:srgbClr val="E5E5E5"/>
            </a:solidFill>
            <a:prstDash val="solid"/>
          </a:ln>
        </p:spPr>
      </p:sp>
      <p:sp>
        <p:nvSpPr>
          <p:cNvPr id="5" name="Shape 3"/>
          <p:cNvSpPr/>
          <p:nvPr/>
        </p:nvSpPr>
        <p:spPr>
          <a:xfrm>
            <a:off x="822960" y="2331720"/>
            <a:ext cx="658368" cy="658368"/>
          </a:xfrm>
          <a:prstGeom prst="ellipse">
            <a:avLst/>
          </a:prstGeom>
          <a:solidFill>
            <a:srgbClr val="F97316"/>
          </a:solidFill>
          <a:ln/>
        </p:spPr>
      </p:sp>
      <p:sp>
        <p:nvSpPr>
          <p:cNvPr id="6" name="Text 4"/>
          <p:cNvSpPr/>
          <p:nvPr/>
        </p:nvSpPr>
        <p:spPr>
          <a:xfrm>
            <a:off x="822960" y="2331720"/>
            <a:ext cx="658368" cy="65836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822960" y="3154680"/>
            <a:ext cx="1755648" cy="1097280"/>
          </a:xfrm>
          <a:prstGeom prst="rect">
            <a:avLst/>
          </a:prstGeom>
          <a:noFill/>
          <a:ln/>
        </p:spPr>
        <p:txBody>
          <a:bodyPr wrap="square" rtlCol="0" anchor="ctr"/>
          <a:lstStyle/>
          <a:p>
            <a:pPr indent="0" marL="0">
              <a:lnSpc>
                <a:spcPct val="100000"/>
              </a:lnSpc>
              <a:buNone/>
            </a:pPr>
            <a:r>
              <a:rPr lang="en-US" sz="1800" b="1" dirty="0">
                <a:solidFill>
                  <a:srgbClr val="111111"/>
                </a:solidFill>
                <a:latin typeface="Calibri" pitchFamily="34" charset="0"/>
                <a:ea typeface="Calibri" pitchFamily="34" charset="-122"/>
                <a:cs typeface="Calibri" pitchFamily="34" charset="-120"/>
              </a:rPr>
              <a:t>Read the</a:t>
            </a:r>
            <a:endParaRPr lang="en-US" sz="1800" dirty="0"/>
          </a:p>
          <a:p>
            <a:pPr indent="0" marL="0">
              <a:lnSpc>
                <a:spcPct val="100000"/>
              </a:lnSpc>
              <a:buNone/>
            </a:pPr>
            <a:r>
              <a:rPr lang="en-US" sz="1800" b="1" dirty="0">
                <a:solidFill>
                  <a:srgbClr val="111111"/>
                </a:solidFill>
                <a:latin typeface="Calibri" pitchFamily="34" charset="0"/>
                <a:ea typeface="Calibri" pitchFamily="34" charset="-122"/>
                <a:cs typeface="Calibri" pitchFamily="34" charset="-120"/>
              </a:rPr>
              <a:t>campaign</a:t>
            </a:r>
            <a:endParaRPr lang="en-US" sz="1800" dirty="0"/>
          </a:p>
        </p:txBody>
      </p:sp>
      <p:sp>
        <p:nvSpPr>
          <p:cNvPr id="8" name="Text 6"/>
          <p:cNvSpPr/>
          <p:nvPr/>
        </p:nvSpPr>
        <p:spPr>
          <a:xfrm>
            <a:off x="822960" y="4251960"/>
            <a:ext cx="1755648" cy="1645920"/>
          </a:xfrm>
          <a:prstGeom prst="rect">
            <a:avLst/>
          </a:prstGeom>
          <a:noFill/>
          <a:ln/>
        </p:spPr>
        <p:txBody>
          <a:bodyPr wrap="square" rtlCol="0" anchor="ctr"/>
          <a:lstStyle/>
          <a:p>
            <a:pPr indent="0" marL="0">
              <a:lnSpc>
                <a:spcPct val="112000"/>
              </a:lnSpc>
              <a:buNone/>
            </a:pPr>
            <a:r>
              <a:rPr lang="en-US" sz="1250" dirty="0">
                <a:solidFill>
                  <a:srgbClr val="666666"/>
                </a:solidFill>
                <a:latin typeface="Calibri" pitchFamily="34" charset="0"/>
                <a:ea typeface="Calibri" pitchFamily="34" charset="-122"/>
                <a:cs typeface="Calibri" pitchFamily="34" charset="-120"/>
              </a:rPr>
              <a:t>Brief &amp; creative → knowledge graph of products, messages, customers</a:t>
            </a:r>
            <a:endParaRPr lang="en-US" sz="1250" dirty="0"/>
          </a:p>
        </p:txBody>
      </p:sp>
      <p:sp>
        <p:nvSpPr>
          <p:cNvPr id="9" name="Shape 7"/>
          <p:cNvSpPr/>
          <p:nvPr/>
        </p:nvSpPr>
        <p:spPr>
          <a:xfrm>
            <a:off x="2889504" y="2103120"/>
            <a:ext cx="2121408" cy="3931920"/>
          </a:xfrm>
          <a:prstGeom prst="roundRect">
            <a:avLst>
              <a:gd name="adj" fmla="val 4310"/>
            </a:avLst>
          </a:prstGeom>
          <a:solidFill>
            <a:srgbClr val="FAFAFA"/>
          </a:solidFill>
          <a:ln w="12700">
            <a:solidFill>
              <a:srgbClr val="E5E5E5"/>
            </a:solidFill>
            <a:prstDash val="solid"/>
          </a:ln>
        </p:spPr>
      </p:sp>
      <p:sp>
        <p:nvSpPr>
          <p:cNvPr id="10" name="Shape 8"/>
          <p:cNvSpPr/>
          <p:nvPr/>
        </p:nvSpPr>
        <p:spPr>
          <a:xfrm>
            <a:off x="3072384" y="2331720"/>
            <a:ext cx="658368" cy="658368"/>
          </a:xfrm>
          <a:prstGeom prst="ellipse">
            <a:avLst/>
          </a:prstGeom>
          <a:solidFill>
            <a:srgbClr val="F97316"/>
          </a:solidFill>
          <a:ln/>
        </p:spPr>
      </p:sp>
      <p:sp>
        <p:nvSpPr>
          <p:cNvPr id="11" name="Text 9"/>
          <p:cNvSpPr/>
          <p:nvPr/>
        </p:nvSpPr>
        <p:spPr>
          <a:xfrm>
            <a:off x="3072384" y="2331720"/>
            <a:ext cx="658368" cy="65836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3072384" y="3154680"/>
            <a:ext cx="1755648" cy="1097280"/>
          </a:xfrm>
          <a:prstGeom prst="rect">
            <a:avLst/>
          </a:prstGeom>
          <a:noFill/>
          <a:ln/>
        </p:spPr>
        <p:txBody>
          <a:bodyPr wrap="square" rtlCol="0" anchor="ctr"/>
          <a:lstStyle/>
          <a:p>
            <a:pPr indent="0" marL="0">
              <a:lnSpc>
                <a:spcPct val="100000"/>
              </a:lnSpc>
              <a:buNone/>
            </a:pPr>
            <a:r>
              <a:rPr lang="en-US" sz="1800" b="1" dirty="0">
                <a:solidFill>
                  <a:srgbClr val="111111"/>
                </a:solidFill>
                <a:latin typeface="Calibri" pitchFamily="34" charset="0"/>
                <a:ea typeface="Calibri" pitchFamily="34" charset="-122"/>
                <a:cs typeface="Calibri" pitchFamily="34" charset="-120"/>
              </a:rPr>
              <a:t>Build the</a:t>
            </a:r>
            <a:endParaRPr lang="en-US" sz="1800" dirty="0"/>
          </a:p>
          <a:p>
            <a:pPr indent="0" marL="0">
              <a:lnSpc>
                <a:spcPct val="100000"/>
              </a:lnSpc>
              <a:buNone/>
            </a:pPr>
            <a:r>
              <a:rPr lang="en-US" sz="1800" b="1" dirty="0">
                <a:solidFill>
                  <a:srgbClr val="111111"/>
                </a:solidFill>
                <a:latin typeface="Calibri" pitchFamily="34" charset="0"/>
                <a:ea typeface="Calibri" pitchFamily="34" charset="-122"/>
                <a:cs typeface="Calibri" pitchFamily="34" charset="-120"/>
              </a:rPr>
              <a:t>customers</a:t>
            </a:r>
            <a:endParaRPr lang="en-US" sz="1800" dirty="0"/>
          </a:p>
        </p:txBody>
      </p:sp>
      <p:sp>
        <p:nvSpPr>
          <p:cNvPr id="13" name="Text 11"/>
          <p:cNvSpPr/>
          <p:nvPr/>
        </p:nvSpPr>
        <p:spPr>
          <a:xfrm>
            <a:off x="3072384" y="4251960"/>
            <a:ext cx="1755648" cy="1645920"/>
          </a:xfrm>
          <a:prstGeom prst="rect">
            <a:avLst/>
          </a:prstGeom>
          <a:noFill/>
          <a:ln/>
        </p:spPr>
        <p:txBody>
          <a:bodyPr wrap="square" rtlCol="0" anchor="ctr"/>
          <a:lstStyle/>
          <a:p>
            <a:pPr indent="0" marL="0">
              <a:lnSpc>
                <a:spcPct val="112000"/>
              </a:lnSpc>
              <a:buNone/>
            </a:pPr>
            <a:r>
              <a:rPr lang="en-US" sz="1250" dirty="0">
                <a:solidFill>
                  <a:srgbClr val="666666"/>
                </a:solidFill>
                <a:latin typeface="Calibri" pitchFamily="34" charset="0"/>
                <a:ea typeface="Calibri" pitchFamily="34" charset="-122"/>
                <a:cs typeface="Calibri" pitchFamily="34" charset="-120"/>
              </a:rPr>
              <a:t>Graph entities → buyer personas + feed config</a:t>
            </a:r>
            <a:endParaRPr lang="en-US" sz="1250" dirty="0"/>
          </a:p>
        </p:txBody>
      </p:sp>
      <p:sp>
        <p:nvSpPr>
          <p:cNvPr id="14" name="Shape 12"/>
          <p:cNvSpPr/>
          <p:nvPr/>
        </p:nvSpPr>
        <p:spPr>
          <a:xfrm>
            <a:off x="5138928" y="2103120"/>
            <a:ext cx="2121408" cy="3931920"/>
          </a:xfrm>
          <a:prstGeom prst="roundRect">
            <a:avLst>
              <a:gd name="adj" fmla="val 4310"/>
            </a:avLst>
          </a:prstGeom>
          <a:solidFill>
            <a:srgbClr val="FAFAFA"/>
          </a:solidFill>
          <a:ln w="12700">
            <a:solidFill>
              <a:srgbClr val="E5E5E5"/>
            </a:solidFill>
            <a:prstDash val="solid"/>
          </a:ln>
        </p:spPr>
      </p:sp>
      <p:sp>
        <p:nvSpPr>
          <p:cNvPr id="15" name="Shape 13"/>
          <p:cNvSpPr/>
          <p:nvPr/>
        </p:nvSpPr>
        <p:spPr>
          <a:xfrm>
            <a:off x="5321808" y="2331720"/>
            <a:ext cx="658368" cy="658368"/>
          </a:xfrm>
          <a:prstGeom prst="ellipse">
            <a:avLst/>
          </a:prstGeom>
          <a:solidFill>
            <a:srgbClr val="F59E0B"/>
          </a:solidFill>
          <a:ln/>
        </p:spPr>
      </p:sp>
      <p:sp>
        <p:nvSpPr>
          <p:cNvPr id="16" name="Text 14"/>
          <p:cNvSpPr/>
          <p:nvPr/>
        </p:nvSpPr>
        <p:spPr>
          <a:xfrm>
            <a:off x="5321808" y="2331720"/>
            <a:ext cx="658368" cy="658368"/>
          </a:xfrm>
          <a:prstGeom prst="rect">
            <a:avLst/>
          </a:prstGeom>
          <a:noFill/>
          <a:ln/>
        </p:spPr>
        <p:txBody>
          <a:bodyPr wrap="square" rtlCol="0" anchor="ctr"/>
          <a:lstStyle/>
          <a:p>
            <a:pPr algn="ctr" indent="0" marL="0">
              <a:buNone/>
            </a:pPr>
            <a:r>
              <a:rPr lang="en-US" sz="2200" b="1" dirty="0">
                <a:solidFill>
                  <a:srgbClr val="111111"/>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5321808" y="3154680"/>
            <a:ext cx="1755648" cy="1097280"/>
          </a:xfrm>
          <a:prstGeom prst="rect">
            <a:avLst/>
          </a:prstGeom>
          <a:noFill/>
          <a:ln/>
        </p:spPr>
        <p:txBody>
          <a:bodyPr wrap="square" rtlCol="0" anchor="ctr"/>
          <a:lstStyle/>
          <a:p>
            <a:pPr indent="0" marL="0">
              <a:lnSpc>
                <a:spcPct val="100000"/>
              </a:lnSpc>
              <a:buNone/>
            </a:pPr>
            <a:r>
              <a:rPr lang="en-US" sz="1800" b="1" dirty="0">
                <a:solidFill>
                  <a:srgbClr val="111111"/>
                </a:solidFill>
                <a:latin typeface="Calibri" pitchFamily="34" charset="0"/>
                <a:ea typeface="Calibri" pitchFamily="34" charset="-122"/>
                <a:cs typeface="Calibri" pitchFamily="34" charset="-120"/>
              </a:rPr>
              <a:t>Run the</a:t>
            </a:r>
            <a:endParaRPr lang="en-US" sz="1800" dirty="0"/>
          </a:p>
          <a:p>
            <a:pPr indent="0" marL="0">
              <a:lnSpc>
                <a:spcPct val="100000"/>
              </a:lnSpc>
              <a:buNone/>
            </a:pPr>
            <a:r>
              <a:rPr lang="en-US" sz="1800" b="1" dirty="0">
                <a:solidFill>
                  <a:srgbClr val="111111"/>
                </a:solidFill>
                <a:latin typeface="Calibri" pitchFamily="34" charset="0"/>
                <a:ea typeface="Calibri" pitchFamily="34" charset="-122"/>
                <a:cs typeface="Calibri" pitchFamily="34" charset="-120"/>
              </a:rPr>
              <a:t>campaign</a:t>
            </a:r>
            <a:endParaRPr lang="en-US" sz="1800" dirty="0"/>
          </a:p>
        </p:txBody>
      </p:sp>
      <p:sp>
        <p:nvSpPr>
          <p:cNvPr id="18" name="Text 16"/>
          <p:cNvSpPr/>
          <p:nvPr/>
        </p:nvSpPr>
        <p:spPr>
          <a:xfrm>
            <a:off x="5321808" y="4251960"/>
            <a:ext cx="1755648" cy="1645920"/>
          </a:xfrm>
          <a:prstGeom prst="rect">
            <a:avLst/>
          </a:prstGeom>
          <a:noFill/>
          <a:ln/>
        </p:spPr>
        <p:txBody>
          <a:bodyPr wrap="square" rtlCol="0" anchor="ctr"/>
          <a:lstStyle/>
          <a:p>
            <a:pPr indent="0" marL="0">
              <a:lnSpc>
                <a:spcPct val="112000"/>
              </a:lnSpc>
              <a:buNone/>
            </a:pPr>
            <a:r>
              <a:rPr lang="en-US" sz="1250" dirty="0">
                <a:solidFill>
                  <a:srgbClr val="666666"/>
                </a:solidFill>
                <a:latin typeface="Calibri" pitchFamily="34" charset="0"/>
                <a:ea typeface="Calibri" pitchFamily="34" charset="-122"/>
                <a:cs typeface="Calibri" pitchFamily="34" charset="-120"/>
              </a:rPr>
              <a:t>Creative seeded into 2 feeds; customers react over N rounds</a:t>
            </a:r>
            <a:endParaRPr lang="en-US" sz="1250" dirty="0"/>
          </a:p>
        </p:txBody>
      </p:sp>
      <p:sp>
        <p:nvSpPr>
          <p:cNvPr id="19" name="Shape 17"/>
          <p:cNvSpPr/>
          <p:nvPr/>
        </p:nvSpPr>
        <p:spPr>
          <a:xfrm>
            <a:off x="7388352" y="2103120"/>
            <a:ext cx="2121408" cy="3931920"/>
          </a:xfrm>
          <a:prstGeom prst="roundRect">
            <a:avLst>
              <a:gd name="adj" fmla="val 4310"/>
            </a:avLst>
          </a:prstGeom>
          <a:solidFill>
            <a:srgbClr val="FAFAFA"/>
          </a:solidFill>
          <a:ln w="12700">
            <a:solidFill>
              <a:srgbClr val="E5E5E5"/>
            </a:solidFill>
            <a:prstDash val="solid"/>
          </a:ln>
        </p:spPr>
      </p:sp>
      <p:sp>
        <p:nvSpPr>
          <p:cNvPr id="20" name="Shape 18"/>
          <p:cNvSpPr/>
          <p:nvPr/>
        </p:nvSpPr>
        <p:spPr>
          <a:xfrm>
            <a:off x="7571232" y="2331720"/>
            <a:ext cx="658368" cy="658368"/>
          </a:xfrm>
          <a:prstGeom prst="ellipse">
            <a:avLst/>
          </a:prstGeom>
          <a:solidFill>
            <a:srgbClr val="F97316"/>
          </a:solidFill>
          <a:ln/>
        </p:spPr>
      </p:sp>
      <p:sp>
        <p:nvSpPr>
          <p:cNvPr id="21" name="Text 19"/>
          <p:cNvSpPr/>
          <p:nvPr/>
        </p:nvSpPr>
        <p:spPr>
          <a:xfrm>
            <a:off x="7571232" y="2331720"/>
            <a:ext cx="658368" cy="65836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20"/>
          <p:cNvSpPr/>
          <p:nvPr/>
        </p:nvSpPr>
        <p:spPr>
          <a:xfrm>
            <a:off x="7571232" y="3154680"/>
            <a:ext cx="1755648" cy="1097280"/>
          </a:xfrm>
          <a:prstGeom prst="rect">
            <a:avLst/>
          </a:prstGeom>
          <a:noFill/>
          <a:ln/>
        </p:spPr>
        <p:txBody>
          <a:bodyPr wrap="square" rtlCol="0" anchor="ctr"/>
          <a:lstStyle/>
          <a:p>
            <a:pPr indent="0" marL="0">
              <a:lnSpc>
                <a:spcPct val="100000"/>
              </a:lnSpc>
              <a:buNone/>
            </a:pPr>
            <a:r>
              <a:rPr lang="en-US" sz="1800" b="1" dirty="0">
                <a:solidFill>
                  <a:srgbClr val="111111"/>
                </a:solidFill>
                <a:latin typeface="Calibri" pitchFamily="34" charset="0"/>
                <a:ea typeface="Calibri" pitchFamily="34" charset="-122"/>
                <a:cs typeface="Calibri" pitchFamily="34" charset="-120"/>
              </a:rPr>
              <a:t>Measure &amp;</a:t>
            </a:r>
            <a:endParaRPr lang="en-US" sz="1800" dirty="0"/>
          </a:p>
          <a:p>
            <a:pPr indent="0" marL="0">
              <a:lnSpc>
                <a:spcPct val="100000"/>
              </a:lnSpc>
              <a:buNone/>
            </a:pPr>
            <a:r>
              <a:rPr lang="en-US" sz="1800" b="1" dirty="0">
                <a:solidFill>
                  <a:srgbClr val="111111"/>
                </a:solidFill>
                <a:latin typeface="Calibri" pitchFamily="34" charset="0"/>
                <a:ea typeface="Calibri" pitchFamily="34" charset="-122"/>
                <a:cs typeface="Calibri" pitchFamily="34" charset="-120"/>
              </a:rPr>
              <a:t>report</a:t>
            </a:r>
            <a:endParaRPr lang="en-US" sz="1800" dirty="0"/>
          </a:p>
        </p:txBody>
      </p:sp>
      <p:sp>
        <p:nvSpPr>
          <p:cNvPr id="23" name="Text 21"/>
          <p:cNvSpPr/>
          <p:nvPr/>
        </p:nvSpPr>
        <p:spPr>
          <a:xfrm>
            <a:off x="7571232" y="4251960"/>
            <a:ext cx="1755648" cy="1645920"/>
          </a:xfrm>
          <a:prstGeom prst="rect">
            <a:avLst/>
          </a:prstGeom>
          <a:noFill/>
          <a:ln/>
        </p:spPr>
        <p:txBody>
          <a:bodyPr wrap="square" rtlCol="0" anchor="ctr"/>
          <a:lstStyle/>
          <a:p>
            <a:pPr indent="0" marL="0">
              <a:lnSpc>
                <a:spcPct val="112000"/>
              </a:lnSpc>
              <a:buNone/>
            </a:pPr>
            <a:r>
              <a:rPr lang="en-US" sz="1250" dirty="0">
                <a:solidFill>
                  <a:srgbClr val="666666"/>
                </a:solidFill>
                <a:latin typeface="Calibri" pitchFamily="34" charset="0"/>
                <a:ea typeface="Calibri" pitchFamily="34" charset="-122"/>
                <a:cs typeface="Calibri" pitchFamily="34" charset="-120"/>
              </a:rPr>
              <a:t>Actions counted into KPIs; a Report Agent writes the assessment</a:t>
            </a:r>
            <a:endParaRPr lang="en-US" sz="1250" dirty="0"/>
          </a:p>
        </p:txBody>
      </p:sp>
      <p:sp>
        <p:nvSpPr>
          <p:cNvPr id="24" name="Shape 22"/>
          <p:cNvSpPr/>
          <p:nvPr/>
        </p:nvSpPr>
        <p:spPr>
          <a:xfrm>
            <a:off x="9637776" y="2103120"/>
            <a:ext cx="2121408" cy="3931920"/>
          </a:xfrm>
          <a:prstGeom prst="roundRect">
            <a:avLst>
              <a:gd name="adj" fmla="val 4310"/>
            </a:avLst>
          </a:prstGeom>
          <a:solidFill>
            <a:srgbClr val="FAFAFA"/>
          </a:solidFill>
          <a:ln w="12700">
            <a:solidFill>
              <a:srgbClr val="E5E5E5"/>
            </a:solidFill>
            <a:prstDash val="solid"/>
          </a:ln>
        </p:spPr>
      </p:sp>
      <p:sp>
        <p:nvSpPr>
          <p:cNvPr id="25" name="Shape 23"/>
          <p:cNvSpPr/>
          <p:nvPr/>
        </p:nvSpPr>
        <p:spPr>
          <a:xfrm>
            <a:off x="9820656" y="2331720"/>
            <a:ext cx="658368" cy="658368"/>
          </a:xfrm>
          <a:prstGeom prst="ellipse">
            <a:avLst/>
          </a:prstGeom>
          <a:solidFill>
            <a:srgbClr val="F97316"/>
          </a:solidFill>
          <a:ln/>
        </p:spPr>
      </p:sp>
      <p:sp>
        <p:nvSpPr>
          <p:cNvPr id="26" name="Text 24"/>
          <p:cNvSpPr/>
          <p:nvPr/>
        </p:nvSpPr>
        <p:spPr>
          <a:xfrm>
            <a:off x="9820656" y="2331720"/>
            <a:ext cx="658368" cy="65836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7" name="Text 25"/>
          <p:cNvSpPr/>
          <p:nvPr/>
        </p:nvSpPr>
        <p:spPr>
          <a:xfrm>
            <a:off x="9820656" y="3154680"/>
            <a:ext cx="1755648" cy="1097280"/>
          </a:xfrm>
          <a:prstGeom prst="rect">
            <a:avLst/>
          </a:prstGeom>
          <a:noFill/>
          <a:ln/>
        </p:spPr>
        <p:txBody>
          <a:bodyPr wrap="square" rtlCol="0" anchor="ctr"/>
          <a:lstStyle/>
          <a:p>
            <a:pPr indent="0" marL="0">
              <a:lnSpc>
                <a:spcPct val="100000"/>
              </a:lnSpc>
              <a:buNone/>
            </a:pPr>
            <a:r>
              <a:rPr lang="en-US" sz="1800" b="1" dirty="0">
                <a:solidFill>
                  <a:srgbClr val="111111"/>
                </a:solidFill>
                <a:latin typeface="Calibri" pitchFamily="34" charset="0"/>
                <a:ea typeface="Calibri" pitchFamily="34" charset="-122"/>
                <a:cs typeface="Calibri" pitchFamily="34" charset="-120"/>
              </a:rPr>
              <a:t>Ask</a:t>
            </a:r>
            <a:endParaRPr lang="en-US" sz="1800" dirty="0"/>
          </a:p>
          <a:p>
            <a:pPr indent="0" marL="0">
              <a:lnSpc>
                <a:spcPct val="100000"/>
              </a:lnSpc>
              <a:buNone/>
            </a:pPr>
            <a:r>
              <a:rPr lang="en-US" sz="1800" b="1" dirty="0">
                <a:solidFill>
                  <a:srgbClr val="111111"/>
                </a:solidFill>
                <a:latin typeface="Calibri" pitchFamily="34" charset="0"/>
                <a:ea typeface="Calibri" pitchFamily="34" charset="-122"/>
                <a:cs typeface="Calibri" pitchFamily="34" charset="-120"/>
              </a:rPr>
              <a:t>follow-ups</a:t>
            </a:r>
            <a:endParaRPr lang="en-US" sz="1800" dirty="0"/>
          </a:p>
        </p:txBody>
      </p:sp>
      <p:sp>
        <p:nvSpPr>
          <p:cNvPr id="28" name="Text 26"/>
          <p:cNvSpPr/>
          <p:nvPr/>
        </p:nvSpPr>
        <p:spPr>
          <a:xfrm>
            <a:off x="9820656" y="4251960"/>
            <a:ext cx="1755648" cy="1645920"/>
          </a:xfrm>
          <a:prstGeom prst="rect">
            <a:avLst/>
          </a:prstGeom>
          <a:noFill/>
          <a:ln/>
        </p:spPr>
        <p:txBody>
          <a:bodyPr wrap="square" rtlCol="0" anchor="ctr"/>
          <a:lstStyle/>
          <a:p>
            <a:pPr indent="0" marL="0">
              <a:lnSpc>
                <a:spcPct val="112000"/>
              </a:lnSpc>
              <a:buNone/>
            </a:pPr>
            <a:r>
              <a:rPr lang="en-US" sz="1250" dirty="0">
                <a:solidFill>
                  <a:srgbClr val="666666"/>
                </a:solidFill>
                <a:latin typeface="Calibri" pitchFamily="34" charset="0"/>
                <a:ea typeface="Calibri" pitchFamily="34" charset="-122"/>
                <a:cs typeface="Calibri" pitchFamily="34" charset="-120"/>
              </a:rPr>
              <a:t>Chat the report, interview a customer, survey a group</a:t>
            </a:r>
            <a:endParaRPr lang="en-US" sz="1250" dirty="0"/>
          </a:p>
        </p:txBody>
      </p:sp>
      <p:sp>
        <p:nvSpPr>
          <p:cNvPr id="29" name="Text 27"/>
          <p:cNvSpPr/>
          <p:nvPr/>
        </p:nvSpPr>
        <p:spPr>
          <a:xfrm>
            <a:off x="640080" y="6263640"/>
            <a:ext cx="10972800" cy="365760"/>
          </a:xfrm>
          <a:prstGeom prst="rect">
            <a:avLst/>
          </a:prstGeom>
          <a:noFill/>
          <a:ln/>
        </p:spPr>
        <p:txBody>
          <a:bodyPr wrap="square" rtlCol="0" anchor="ctr"/>
          <a:lstStyle/>
          <a:p>
            <a:pPr indent="0" marL="0">
              <a:buNone/>
            </a:pPr>
            <a:r>
              <a:rPr lang="en-US" sz="1300" i="1" dirty="0">
                <a:solidFill>
                  <a:srgbClr val="666666"/>
                </a:solidFill>
                <a:latin typeface="Calibri" pitchFamily="34" charset="0"/>
                <a:ea typeface="Calibri" pitchFamily="34" charset="-122"/>
                <a:cs typeface="Calibri" pitchFamily="34" charset="-120"/>
              </a:rPr>
              <a:t>These are Step 1 → Step 5 in the workbench UI. The next slides follow the same order.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11111"/>
          </a:solidFill>
          <a:ln/>
        </p:spPr>
      </p:sp>
      <p:sp>
        <p:nvSpPr>
          <p:cNvPr id="3" name="Shape 1"/>
          <p:cNvSpPr/>
          <p:nvPr/>
        </p:nvSpPr>
        <p:spPr>
          <a:xfrm>
            <a:off x="-1280160" y="4937760"/>
            <a:ext cx="2926080" cy="2926080"/>
          </a:xfrm>
          <a:prstGeom prst="ellipse">
            <a:avLst/>
          </a:prstGeom>
          <a:solidFill>
            <a:srgbClr val="1C1C1C"/>
          </a:solidFill>
          <a:ln/>
        </p:spPr>
      </p:sp>
      <p:sp>
        <p:nvSpPr>
          <p:cNvPr id="4" name="Text 2"/>
          <p:cNvSpPr/>
          <p:nvPr/>
        </p:nvSpPr>
        <p:spPr>
          <a:xfrm>
            <a:off x="502920" y="777240"/>
            <a:ext cx="2743200" cy="457200"/>
          </a:xfrm>
          <a:prstGeom prst="rect">
            <a:avLst/>
          </a:prstGeom>
          <a:noFill/>
          <a:ln/>
        </p:spPr>
        <p:txBody>
          <a:bodyPr wrap="square" rtlCol="0" anchor="ctr"/>
          <a:lstStyle/>
          <a:p>
            <a:pPr indent="0" marL="0">
              <a:buNone/>
            </a:pPr>
            <a:r>
              <a:rPr lang="en-US" sz="1500" b="1" spc="400" kern="0" dirty="0">
                <a:solidFill>
                  <a:srgbClr val="F97316"/>
                </a:solidFill>
                <a:latin typeface="Calibri" pitchFamily="34" charset="0"/>
                <a:ea typeface="Calibri" pitchFamily="34" charset="-122"/>
                <a:cs typeface="Calibri" pitchFamily="34" charset="-120"/>
              </a:rPr>
              <a:t>STEP 1</a:t>
            </a:r>
            <a:endParaRPr lang="en-US" sz="1500" dirty="0"/>
          </a:p>
        </p:txBody>
      </p:sp>
      <p:sp>
        <p:nvSpPr>
          <p:cNvPr id="5" name="Text 3"/>
          <p:cNvSpPr/>
          <p:nvPr/>
        </p:nvSpPr>
        <p:spPr>
          <a:xfrm>
            <a:off x="320040" y="1051560"/>
            <a:ext cx="3291840" cy="2377440"/>
          </a:xfrm>
          <a:prstGeom prst="rect">
            <a:avLst/>
          </a:prstGeom>
          <a:noFill/>
          <a:ln/>
        </p:spPr>
        <p:txBody>
          <a:bodyPr wrap="square" rtlCol="0" anchor="ctr"/>
          <a:lstStyle/>
          <a:p>
            <a:pPr indent="0" marL="0">
              <a:buNone/>
            </a:pPr>
            <a:r>
              <a:rPr lang="en-US" sz="15000" b="1" dirty="0">
                <a:solidFill>
                  <a:srgbClr val="1C1C1C"/>
                </a:solidFill>
                <a:latin typeface="Calibri" pitchFamily="34" charset="0"/>
                <a:ea typeface="Calibri" pitchFamily="34" charset="-122"/>
                <a:cs typeface="Calibri" pitchFamily="34" charset="-120"/>
              </a:rPr>
              <a:t>1</a:t>
            </a:r>
            <a:endParaRPr lang="en-US" sz="15000" dirty="0"/>
          </a:p>
        </p:txBody>
      </p:sp>
      <p:sp>
        <p:nvSpPr>
          <p:cNvPr id="6" name="Text 4"/>
          <p:cNvSpPr/>
          <p:nvPr/>
        </p:nvSpPr>
        <p:spPr>
          <a:xfrm>
            <a:off x="502920" y="3246120"/>
            <a:ext cx="3017520" cy="1280160"/>
          </a:xfrm>
          <a:prstGeom prst="rect">
            <a:avLst/>
          </a:prstGeom>
          <a:noFill/>
          <a:ln/>
        </p:spPr>
        <p:txBody>
          <a:bodyPr wrap="square" rtlCol="0" anchor="ctr"/>
          <a:lstStyle/>
          <a:p>
            <a:pPr indent="0" marL="0">
              <a:lnSpc>
                <a:spcPct val="100000"/>
              </a:lnSpc>
              <a:buNone/>
            </a:pPr>
            <a:r>
              <a:rPr lang="en-US" sz="2700" b="1" dirty="0">
                <a:solidFill>
                  <a:srgbClr val="FFFFFF"/>
                </a:solidFill>
                <a:latin typeface="Calibri" pitchFamily="34" charset="0"/>
                <a:ea typeface="Calibri" pitchFamily="34" charset="-122"/>
                <a:cs typeface="Calibri" pitchFamily="34" charset="-120"/>
              </a:rPr>
              <a:t>Read the campaign</a:t>
            </a:r>
            <a:endParaRPr lang="en-US" sz="2700" dirty="0"/>
          </a:p>
        </p:txBody>
      </p:sp>
      <p:sp>
        <p:nvSpPr>
          <p:cNvPr id="7" name="Shape 5"/>
          <p:cNvSpPr/>
          <p:nvPr/>
        </p:nvSpPr>
        <p:spPr>
          <a:xfrm>
            <a:off x="502920" y="4892040"/>
            <a:ext cx="457200" cy="457200"/>
          </a:xfrm>
          <a:prstGeom prst="ellipse">
            <a:avLst/>
          </a:prstGeom>
          <a:solidFill>
            <a:srgbClr val="F97316"/>
          </a:solidFill>
          <a:ln/>
        </p:spPr>
      </p:sp>
      <p:sp>
        <p:nvSpPr>
          <p:cNvPr id="8" name="Text 6"/>
          <p:cNvSpPr/>
          <p:nvPr/>
        </p:nvSpPr>
        <p:spPr>
          <a:xfrm>
            <a:off x="502920" y="489204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1024128" y="4846320"/>
            <a:ext cx="2743200" cy="6400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Build the Customers</a:t>
            </a:r>
            <a:endParaRPr lang="en-US" sz="1300" dirty="0"/>
          </a:p>
        </p:txBody>
      </p:sp>
      <p:sp>
        <p:nvSpPr>
          <p:cNvPr id="10" name="Text 8"/>
          <p:cNvSpPr/>
          <p:nvPr/>
        </p:nvSpPr>
        <p:spPr>
          <a:xfrm>
            <a:off x="502920" y="5532120"/>
            <a:ext cx="2743200" cy="274320"/>
          </a:xfrm>
          <a:prstGeom prst="rect">
            <a:avLst/>
          </a:prstGeom>
          <a:noFill/>
          <a:ln/>
        </p:spPr>
        <p:txBody>
          <a:bodyPr wrap="square" rtlCol="0" anchor="ctr"/>
          <a:lstStyle/>
          <a:p>
            <a:pPr indent="0" marL="0">
              <a:buNone/>
            </a:pPr>
            <a:r>
              <a:rPr lang="en-US" sz="1000" i="1" dirty="0">
                <a:solidFill>
                  <a:srgbClr val="8A8A8A"/>
                </a:solidFill>
                <a:latin typeface="Calibri" pitchFamily="34" charset="0"/>
                <a:ea typeface="Calibri" pitchFamily="34" charset="-122"/>
                <a:cs typeface="Calibri" pitchFamily="34" charset="-120"/>
              </a:rPr>
              <a:t>UI button</a:t>
            </a:r>
            <a:endParaRPr lang="en-US" sz="1000" dirty="0"/>
          </a:p>
        </p:txBody>
      </p:sp>
      <p:sp>
        <p:nvSpPr>
          <p:cNvPr id="11" name="Text 9"/>
          <p:cNvSpPr/>
          <p:nvPr/>
        </p:nvSpPr>
        <p:spPr>
          <a:xfrm>
            <a:off x="4343400" y="457200"/>
            <a:ext cx="7315200" cy="411480"/>
          </a:xfrm>
          <a:prstGeom prst="rect">
            <a:avLst/>
          </a:prstGeom>
          <a:noFill/>
          <a:ln/>
        </p:spPr>
        <p:txBody>
          <a:bodyPr wrap="square" rtlCol="0" anchor="ctr"/>
          <a:lstStyle/>
          <a:p>
            <a:pPr indent="0" marL="0">
              <a:buNone/>
            </a:pPr>
            <a:r>
              <a:rPr lang="en-US" sz="1400" b="1" spc="200" kern="0" dirty="0">
                <a:solidFill>
                  <a:srgbClr val="F97316"/>
                </a:solidFill>
                <a:latin typeface="Calibri" pitchFamily="34" charset="0"/>
                <a:ea typeface="Calibri" pitchFamily="34" charset="-122"/>
                <a:cs typeface="Calibri" pitchFamily="34" charset="-120"/>
              </a:rPr>
              <a:t>Brief &amp; creative → knowledge graph</a:t>
            </a:r>
            <a:endParaRPr lang="en-US" sz="1400" dirty="0"/>
          </a:p>
        </p:txBody>
      </p:sp>
      <p:sp>
        <p:nvSpPr>
          <p:cNvPr id="12" name="Shape 10"/>
          <p:cNvSpPr/>
          <p:nvPr/>
        </p:nvSpPr>
        <p:spPr>
          <a:xfrm>
            <a:off x="4343400" y="960120"/>
            <a:ext cx="566928" cy="566928"/>
          </a:xfrm>
          <a:prstGeom prst="ellipse">
            <a:avLst/>
          </a:prstGeom>
          <a:solidFill>
            <a:srgbClr val="F97316"/>
          </a:solidFill>
          <a:ln/>
        </p:spPr>
      </p:sp>
      <p:sp>
        <p:nvSpPr>
          <p:cNvPr id="13" name="Text 11"/>
          <p:cNvSpPr/>
          <p:nvPr/>
        </p:nvSpPr>
        <p:spPr>
          <a:xfrm>
            <a:off x="4343400" y="960120"/>
            <a:ext cx="566928" cy="566928"/>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5074920" y="914400"/>
            <a:ext cx="6766560" cy="45720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Ontology generation</a:t>
            </a:r>
            <a:endParaRPr lang="en-US" sz="1900" dirty="0"/>
          </a:p>
        </p:txBody>
      </p:sp>
      <p:sp>
        <p:nvSpPr>
          <p:cNvPr id="15" name="Text 13"/>
          <p:cNvSpPr/>
          <p:nvPr/>
        </p:nvSpPr>
        <p:spPr>
          <a:xfrm>
            <a:off x="5074920" y="1371600"/>
            <a:ext cx="6720840" cy="868680"/>
          </a:xfrm>
          <a:prstGeom prst="rect">
            <a:avLst/>
          </a:prstGeom>
          <a:noFill/>
          <a:ln/>
        </p:spPr>
        <p:txBody>
          <a:bodyPr wrap="square" rtlCol="0" anchor="ctr"/>
          <a:lstStyle/>
          <a:p>
            <a:pPr indent="0" marL="0">
              <a:lnSpc>
                <a:spcPct val="112000"/>
              </a:lnSpc>
              <a:buNone/>
            </a:pPr>
            <a:r>
              <a:rPr lang="en-US" sz="1350" dirty="0">
                <a:solidFill>
                  <a:srgbClr val="666666"/>
                </a:solidFill>
                <a:latin typeface="Calibri" pitchFamily="34" charset="0"/>
                <a:ea typeface="Calibri" pitchFamily="34" charset="-122"/>
                <a:cs typeface="Calibri" pitchFamily="34" charset="-120"/>
              </a:rPr>
              <a:t>Reads the campaign material (PDF / MD / TXT) and derives the entity &amp; relation schema — products, messages, customer types.</a:t>
            </a:r>
            <a:endParaRPr lang="en-US" sz="1350" dirty="0"/>
          </a:p>
        </p:txBody>
      </p:sp>
      <p:sp>
        <p:nvSpPr>
          <p:cNvPr id="16" name="Shape 14"/>
          <p:cNvSpPr/>
          <p:nvPr/>
        </p:nvSpPr>
        <p:spPr>
          <a:xfrm>
            <a:off x="4343400" y="2377440"/>
            <a:ext cx="566928" cy="566928"/>
          </a:xfrm>
          <a:prstGeom prst="ellipse">
            <a:avLst/>
          </a:prstGeom>
          <a:solidFill>
            <a:srgbClr val="EA580C"/>
          </a:solidFill>
          <a:ln/>
        </p:spPr>
      </p:sp>
      <p:sp>
        <p:nvSpPr>
          <p:cNvPr id="17" name="Text 15"/>
          <p:cNvSpPr/>
          <p:nvPr/>
        </p:nvSpPr>
        <p:spPr>
          <a:xfrm>
            <a:off x="4343400" y="2377440"/>
            <a:ext cx="566928" cy="566928"/>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8" name="Text 16"/>
          <p:cNvSpPr/>
          <p:nvPr/>
        </p:nvSpPr>
        <p:spPr>
          <a:xfrm>
            <a:off x="5074920" y="2331720"/>
            <a:ext cx="6766560" cy="45720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GraphRAG build</a:t>
            </a:r>
            <a:endParaRPr lang="en-US" sz="1900" dirty="0"/>
          </a:p>
        </p:txBody>
      </p:sp>
      <p:sp>
        <p:nvSpPr>
          <p:cNvPr id="19" name="Text 17"/>
          <p:cNvSpPr/>
          <p:nvPr/>
        </p:nvSpPr>
        <p:spPr>
          <a:xfrm>
            <a:off x="5074920" y="2788920"/>
            <a:ext cx="6720840" cy="868680"/>
          </a:xfrm>
          <a:prstGeom prst="rect">
            <a:avLst/>
          </a:prstGeom>
          <a:noFill/>
          <a:ln/>
        </p:spPr>
        <p:txBody>
          <a:bodyPr wrap="square" rtlCol="0" anchor="ctr"/>
          <a:lstStyle/>
          <a:p>
            <a:pPr indent="0" marL="0">
              <a:lnSpc>
                <a:spcPct val="112000"/>
              </a:lnSpc>
              <a:buNone/>
            </a:pPr>
            <a:r>
              <a:rPr lang="en-US" sz="1350" dirty="0">
                <a:solidFill>
                  <a:srgbClr val="666666"/>
                </a:solidFill>
                <a:latin typeface="Calibri" pitchFamily="34" charset="0"/>
                <a:ea typeface="Calibri" pitchFamily="34" charset="-122"/>
                <a:cs typeface="Calibri" pitchFamily="34" charset="-120"/>
              </a:rPr>
              <a:t>Material extracted into a Zep Cloud knowledge graph. Dashboard shows Entity Nodes, Relation Edges, Schema Types.</a:t>
            </a:r>
            <a:endParaRPr lang="en-US" sz="1350" dirty="0"/>
          </a:p>
        </p:txBody>
      </p:sp>
      <p:sp>
        <p:nvSpPr>
          <p:cNvPr id="20" name="Shape 18"/>
          <p:cNvSpPr/>
          <p:nvPr/>
        </p:nvSpPr>
        <p:spPr>
          <a:xfrm>
            <a:off x="4343400" y="3794760"/>
            <a:ext cx="566928" cy="566928"/>
          </a:xfrm>
          <a:prstGeom prst="ellipse">
            <a:avLst/>
          </a:prstGeom>
          <a:solidFill>
            <a:srgbClr val="F59E0B"/>
          </a:solidFill>
          <a:ln/>
        </p:spPr>
      </p:sp>
      <p:sp>
        <p:nvSpPr>
          <p:cNvPr id="21" name="Text 19"/>
          <p:cNvSpPr/>
          <p:nvPr/>
        </p:nvSpPr>
        <p:spPr>
          <a:xfrm>
            <a:off x="4343400" y="3794760"/>
            <a:ext cx="566928" cy="566928"/>
          </a:xfrm>
          <a:prstGeom prst="rect">
            <a:avLst/>
          </a:prstGeom>
          <a:noFill/>
          <a:ln/>
        </p:spPr>
        <p:txBody>
          <a:bodyPr wrap="square" rtlCol="0" anchor="ctr"/>
          <a:lstStyle/>
          <a:p>
            <a:pPr algn="ctr" indent="0" marL="0">
              <a:buNone/>
            </a:pPr>
            <a:r>
              <a:rPr lang="en-US" sz="1700" b="1" dirty="0">
                <a:solidFill>
                  <a:srgbClr val="111111"/>
                </a:solidFill>
                <a:latin typeface="Calibri" pitchFamily="34" charset="0"/>
                <a:ea typeface="Calibri" pitchFamily="34" charset="-122"/>
                <a:cs typeface="Calibri" pitchFamily="34" charset="-120"/>
              </a:rPr>
              <a:t>◎</a:t>
            </a:r>
            <a:endParaRPr lang="en-US" sz="1700" dirty="0"/>
          </a:p>
        </p:txBody>
      </p:sp>
      <p:sp>
        <p:nvSpPr>
          <p:cNvPr id="22" name="Text 20"/>
          <p:cNvSpPr/>
          <p:nvPr/>
        </p:nvSpPr>
        <p:spPr>
          <a:xfrm>
            <a:off x="5074920" y="3749040"/>
            <a:ext cx="6766560" cy="45720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Audience research (optional)</a:t>
            </a:r>
            <a:endParaRPr lang="en-US" sz="1900" dirty="0"/>
          </a:p>
        </p:txBody>
      </p:sp>
      <p:sp>
        <p:nvSpPr>
          <p:cNvPr id="23" name="Text 21"/>
          <p:cNvSpPr/>
          <p:nvPr/>
        </p:nvSpPr>
        <p:spPr>
          <a:xfrm>
            <a:off x="5074920" y="4206240"/>
            <a:ext cx="6720840" cy="868680"/>
          </a:xfrm>
          <a:prstGeom prst="rect">
            <a:avLst/>
          </a:prstGeom>
          <a:noFill/>
          <a:ln/>
        </p:spPr>
        <p:txBody>
          <a:bodyPr wrap="square" rtlCol="0" anchor="ctr"/>
          <a:lstStyle/>
          <a:p>
            <a:pPr indent="0" marL="0">
              <a:lnSpc>
                <a:spcPct val="112000"/>
              </a:lnSpc>
              <a:buNone/>
            </a:pPr>
            <a:r>
              <a:rPr lang="en-US" sz="1350" dirty="0">
                <a:solidFill>
                  <a:srgbClr val="666666"/>
                </a:solidFill>
                <a:latin typeface="Calibri" pitchFamily="34" charset="0"/>
                <a:ea typeface="Calibri" pitchFamily="34" charset="-122"/>
                <a:cs typeface="Calibri" pitchFamily="34" charset="-120"/>
              </a:rPr>
              <a:t>Crawler searches real public discussion (Reddit / Threads), reads what people said, surfaces recurring themes to ground the graph.</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11111"/>
          </a:solidFill>
          <a:ln/>
        </p:spPr>
      </p:sp>
      <p:sp>
        <p:nvSpPr>
          <p:cNvPr id="3" name="Shape 1"/>
          <p:cNvSpPr/>
          <p:nvPr/>
        </p:nvSpPr>
        <p:spPr>
          <a:xfrm>
            <a:off x="-1280160" y="4937760"/>
            <a:ext cx="2926080" cy="2926080"/>
          </a:xfrm>
          <a:prstGeom prst="ellipse">
            <a:avLst/>
          </a:prstGeom>
          <a:solidFill>
            <a:srgbClr val="1C1C1C"/>
          </a:solidFill>
          <a:ln/>
        </p:spPr>
      </p:sp>
      <p:sp>
        <p:nvSpPr>
          <p:cNvPr id="4" name="Text 2"/>
          <p:cNvSpPr/>
          <p:nvPr/>
        </p:nvSpPr>
        <p:spPr>
          <a:xfrm>
            <a:off x="502920" y="777240"/>
            <a:ext cx="2743200" cy="457200"/>
          </a:xfrm>
          <a:prstGeom prst="rect">
            <a:avLst/>
          </a:prstGeom>
          <a:noFill/>
          <a:ln/>
        </p:spPr>
        <p:txBody>
          <a:bodyPr wrap="square" rtlCol="0" anchor="ctr"/>
          <a:lstStyle/>
          <a:p>
            <a:pPr indent="0" marL="0">
              <a:buNone/>
            </a:pPr>
            <a:r>
              <a:rPr lang="en-US" sz="1500" b="1" spc="400" kern="0" dirty="0">
                <a:solidFill>
                  <a:srgbClr val="F97316"/>
                </a:solidFill>
                <a:latin typeface="Calibri" pitchFamily="34" charset="0"/>
                <a:ea typeface="Calibri" pitchFamily="34" charset="-122"/>
                <a:cs typeface="Calibri" pitchFamily="34" charset="-120"/>
              </a:rPr>
              <a:t>STEP 2</a:t>
            </a:r>
            <a:endParaRPr lang="en-US" sz="1500" dirty="0"/>
          </a:p>
        </p:txBody>
      </p:sp>
      <p:sp>
        <p:nvSpPr>
          <p:cNvPr id="5" name="Text 3"/>
          <p:cNvSpPr/>
          <p:nvPr/>
        </p:nvSpPr>
        <p:spPr>
          <a:xfrm>
            <a:off x="320040" y="1051560"/>
            <a:ext cx="3291840" cy="2377440"/>
          </a:xfrm>
          <a:prstGeom prst="rect">
            <a:avLst/>
          </a:prstGeom>
          <a:noFill/>
          <a:ln/>
        </p:spPr>
        <p:txBody>
          <a:bodyPr wrap="square" rtlCol="0" anchor="ctr"/>
          <a:lstStyle/>
          <a:p>
            <a:pPr indent="0" marL="0">
              <a:buNone/>
            </a:pPr>
            <a:r>
              <a:rPr lang="en-US" sz="15000" b="1" dirty="0">
                <a:solidFill>
                  <a:srgbClr val="1C1C1C"/>
                </a:solidFill>
                <a:latin typeface="Calibri" pitchFamily="34" charset="0"/>
                <a:ea typeface="Calibri" pitchFamily="34" charset="-122"/>
                <a:cs typeface="Calibri" pitchFamily="34" charset="-120"/>
              </a:rPr>
              <a:t>2</a:t>
            </a:r>
            <a:endParaRPr lang="en-US" sz="15000" dirty="0"/>
          </a:p>
        </p:txBody>
      </p:sp>
      <p:sp>
        <p:nvSpPr>
          <p:cNvPr id="6" name="Text 4"/>
          <p:cNvSpPr/>
          <p:nvPr/>
        </p:nvSpPr>
        <p:spPr>
          <a:xfrm>
            <a:off x="502920" y="3246120"/>
            <a:ext cx="3017520" cy="1280160"/>
          </a:xfrm>
          <a:prstGeom prst="rect">
            <a:avLst/>
          </a:prstGeom>
          <a:noFill/>
          <a:ln/>
        </p:spPr>
        <p:txBody>
          <a:bodyPr wrap="square" rtlCol="0" anchor="ctr"/>
          <a:lstStyle/>
          <a:p>
            <a:pPr indent="0" marL="0">
              <a:lnSpc>
                <a:spcPct val="100000"/>
              </a:lnSpc>
              <a:buNone/>
            </a:pPr>
            <a:r>
              <a:rPr lang="en-US" sz="2700" b="1" dirty="0">
                <a:solidFill>
                  <a:srgbClr val="FFFFFF"/>
                </a:solidFill>
                <a:latin typeface="Calibri" pitchFamily="34" charset="0"/>
                <a:ea typeface="Calibri" pitchFamily="34" charset="-122"/>
                <a:cs typeface="Calibri" pitchFamily="34" charset="-120"/>
              </a:rPr>
              <a:t>Build the customers</a:t>
            </a:r>
            <a:endParaRPr lang="en-US" sz="2700" dirty="0"/>
          </a:p>
        </p:txBody>
      </p:sp>
      <p:sp>
        <p:nvSpPr>
          <p:cNvPr id="7" name="Shape 5"/>
          <p:cNvSpPr/>
          <p:nvPr/>
        </p:nvSpPr>
        <p:spPr>
          <a:xfrm>
            <a:off x="502920" y="4892040"/>
            <a:ext cx="457200" cy="457200"/>
          </a:xfrm>
          <a:prstGeom prst="ellipse">
            <a:avLst/>
          </a:prstGeom>
          <a:solidFill>
            <a:srgbClr val="F97316"/>
          </a:solidFill>
          <a:ln/>
        </p:spPr>
      </p:sp>
      <p:sp>
        <p:nvSpPr>
          <p:cNvPr id="8" name="Text 6"/>
          <p:cNvSpPr/>
          <p:nvPr/>
        </p:nvSpPr>
        <p:spPr>
          <a:xfrm>
            <a:off x="502920" y="489204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1024128" y="4846320"/>
            <a:ext cx="2743200" cy="6400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Release Campaign to Both Feeds</a:t>
            </a:r>
            <a:endParaRPr lang="en-US" sz="1300" dirty="0"/>
          </a:p>
        </p:txBody>
      </p:sp>
      <p:sp>
        <p:nvSpPr>
          <p:cNvPr id="10" name="Text 8"/>
          <p:cNvSpPr/>
          <p:nvPr/>
        </p:nvSpPr>
        <p:spPr>
          <a:xfrm>
            <a:off x="502920" y="5532120"/>
            <a:ext cx="2743200" cy="274320"/>
          </a:xfrm>
          <a:prstGeom prst="rect">
            <a:avLst/>
          </a:prstGeom>
          <a:noFill/>
          <a:ln/>
        </p:spPr>
        <p:txBody>
          <a:bodyPr wrap="square" rtlCol="0" anchor="ctr"/>
          <a:lstStyle/>
          <a:p>
            <a:pPr indent="0" marL="0">
              <a:buNone/>
            </a:pPr>
            <a:r>
              <a:rPr lang="en-US" sz="1000" i="1" dirty="0">
                <a:solidFill>
                  <a:srgbClr val="8A8A8A"/>
                </a:solidFill>
                <a:latin typeface="Calibri" pitchFamily="34" charset="0"/>
                <a:ea typeface="Calibri" pitchFamily="34" charset="-122"/>
                <a:cs typeface="Calibri" pitchFamily="34" charset="-120"/>
              </a:rPr>
              <a:t>UI button</a:t>
            </a:r>
            <a:endParaRPr lang="en-US" sz="1000" dirty="0"/>
          </a:p>
        </p:txBody>
      </p:sp>
      <p:sp>
        <p:nvSpPr>
          <p:cNvPr id="11" name="Text 9"/>
          <p:cNvSpPr/>
          <p:nvPr/>
        </p:nvSpPr>
        <p:spPr>
          <a:xfrm>
            <a:off x="4343400" y="457200"/>
            <a:ext cx="7315200" cy="411480"/>
          </a:xfrm>
          <a:prstGeom prst="rect">
            <a:avLst/>
          </a:prstGeom>
          <a:noFill/>
          <a:ln/>
        </p:spPr>
        <p:txBody>
          <a:bodyPr wrap="square" rtlCol="0" anchor="ctr"/>
          <a:lstStyle/>
          <a:p>
            <a:pPr indent="0" marL="0">
              <a:buNone/>
            </a:pPr>
            <a:r>
              <a:rPr lang="en-US" sz="1400" b="1" spc="200" kern="0" dirty="0">
                <a:solidFill>
                  <a:srgbClr val="F97316"/>
                </a:solidFill>
                <a:latin typeface="Calibri" pitchFamily="34" charset="0"/>
                <a:ea typeface="Calibri" pitchFamily="34" charset="-122"/>
                <a:cs typeface="Calibri" pitchFamily="34" charset="-120"/>
              </a:rPr>
              <a:t>Personas + feeds, configured</a:t>
            </a:r>
            <a:endParaRPr lang="en-US" sz="1400" dirty="0"/>
          </a:p>
        </p:txBody>
      </p:sp>
      <p:sp>
        <p:nvSpPr>
          <p:cNvPr id="12" name="Shape 10"/>
          <p:cNvSpPr/>
          <p:nvPr/>
        </p:nvSpPr>
        <p:spPr>
          <a:xfrm>
            <a:off x="4343400" y="960120"/>
            <a:ext cx="566928" cy="566928"/>
          </a:xfrm>
          <a:prstGeom prst="ellipse">
            <a:avLst/>
          </a:prstGeom>
          <a:solidFill>
            <a:srgbClr val="F97316"/>
          </a:solidFill>
          <a:ln/>
        </p:spPr>
      </p:sp>
      <p:sp>
        <p:nvSpPr>
          <p:cNvPr id="13" name="Text 11"/>
          <p:cNvSpPr/>
          <p:nvPr/>
        </p:nvSpPr>
        <p:spPr>
          <a:xfrm>
            <a:off x="4343400" y="960120"/>
            <a:ext cx="566928" cy="566928"/>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5074920" y="914400"/>
            <a:ext cx="6766560" cy="45720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Generate customer personas</a:t>
            </a:r>
            <a:endParaRPr lang="en-US" sz="1900" dirty="0"/>
          </a:p>
        </p:txBody>
      </p:sp>
      <p:sp>
        <p:nvSpPr>
          <p:cNvPr id="15" name="Text 13"/>
          <p:cNvSpPr/>
          <p:nvPr/>
        </p:nvSpPr>
        <p:spPr>
          <a:xfrm>
            <a:off x="5074920" y="1371600"/>
            <a:ext cx="6720840" cy="868680"/>
          </a:xfrm>
          <a:prstGeom prst="rect">
            <a:avLst/>
          </a:prstGeom>
          <a:noFill/>
          <a:ln/>
        </p:spPr>
        <p:txBody>
          <a:bodyPr wrap="square" rtlCol="0" anchor="ctr"/>
          <a:lstStyle/>
          <a:p>
            <a:pPr indent="0" marL="0">
              <a:lnSpc>
                <a:spcPct val="112000"/>
              </a:lnSpc>
              <a:buNone/>
            </a:pPr>
            <a:r>
              <a:rPr lang="en-US" sz="1350" dirty="0">
                <a:solidFill>
                  <a:srgbClr val="666666"/>
                </a:solidFill>
                <a:latin typeface="Calibri" pitchFamily="34" charset="0"/>
                <a:ea typeface="Calibri" pitchFamily="34" charset="-122"/>
                <a:cs typeface="Calibri" pitchFamily="34" charset="-120"/>
              </a:rPr>
              <a:t>Graph entities become customers with four dimensions: Category Experience, Purchase Behaviour, Brand Attitude, Media Habits.</a:t>
            </a:r>
            <a:endParaRPr lang="en-US" sz="1350" dirty="0"/>
          </a:p>
        </p:txBody>
      </p:sp>
      <p:sp>
        <p:nvSpPr>
          <p:cNvPr id="16" name="Shape 14"/>
          <p:cNvSpPr/>
          <p:nvPr/>
        </p:nvSpPr>
        <p:spPr>
          <a:xfrm>
            <a:off x="4343400" y="2377440"/>
            <a:ext cx="566928" cy="566928"/>
          </a:xfrm>
          <a:prstGeom prst="ellipse">
            <a:avLst/>
          </a:prstGeom>
          <a:solidFill>
            <a:srgbClr val="EA580C"/>
          </a:solidFill>
          <a:ln/>
        </p:spPr>
      </p:sp>
      <p:sp>
        <p:nvSpPr>
          <p:cNvPr id="17" name="Text 15"/>
          <p:cNvSpPr/>
          <p:nvPr/>
        </p:nvSpPr>
        <p:spPr>
          <a:xfrm>
            <a:off x="4343400" y="2377440"/>
            <a:ext cx="566928" cy="566928"/>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8" name="Text 16"/>
          <p:cNvSpPr/>
          <p:nvPr/>
        </p:nvSpPr>
        <p:spPr>
          <a:xfrm>
            <a:off x="5074920" y="2331720"/>
            <a:ext cx="6766560" cy="45720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Configure the two feeds</a:t>
            </a:r>
            <a:endParaRPr lang="en-US" sz="1900" dirty="0"/>
          </a:p>
        </p:txBody>
      </p:sp>
      <p:sp>
        <p:nvSpPr>
          <p:cNvPr id="19" name="Text 17"/>
          <p:cNvSpPr/>
          <p:nvPr/>
        </p:nvSpPr>
        <p:spPr>
          <a:xfrm>
            <a:off x="5074920" y="2788920"/>
            <a:ext cx="6720840" cy="868680"/>
          </a:xfrm>
          <a:prstGeom prst="rect">
            <a:avLst/>
          </a:prstGeom>
          <a:noFill/>
          <a:ln/>
        </p:spPr>
        <p:txBody>
          <a:bodyPr wrap="square" rtlCol="0" anchor="ctr"/>
          <a:lstStyle/>
          <a:p>
            <a:pPr indent="0" marL="0">
              <a:lnSpc>
                <a:spcPct val="112000"/>
              </a:lnSpc>
              <a:buNone/>
            </a:pPr>
            <a:r>
              <a:rPr lang="en-US" sz="1350" dirty="0">
                <a:solidFill>
                  <a:srgbClr val="666666"/>
                </a:solidFill>
                <a:latin typeface="Calibri" pitchFamily="34" charset="0"/>
                <a:ea typeface="Calibri" pitchFamily="34" charset="-122"/>
                <a:cs typeface="Calibri" pitchFamily="34" charset="-120"/>
              </a:rPr>
              <a:t>Info Plaza and Topic Community — audience size, rounds, activity and recommendation algorithm are auto-planned.</a:t>
            </a:r>
            <a:endParaRPr lang="en-US" sz="1350" dirty="0"/>
          </a:p>
        </p:txBody>
      </p:sp>
      <p:sp>
        <p:nvSpPr>
          <p:cNvPr id="20" name="Shape 18"/>
          <p:cNvSpPr/>
          <p:nvPr/>
        </p:nvSpPr>
        <p:spPr>
          <a:xfrm>
            <a:off x="4343400" y="3794760"/>
            <a:ext cx="566928" cy="566928"/>
          </a:xfrm>
          <a:prstGeom prst="ellipse">
            <a:avLst/>
          </a:prstGeom>
          <a:solidFill>
            <a:srgbClr val="F59E0B"/>
          </a:solidFill>
          <a:ln/>
        </p:spPr>
      </p:sp>
      <p:sp>
        <p:nvSpPr>
          <p:cNvPr id="21" name="Text 19"/>
          <p:cNvSpPr/>
          <p:nvPr/>
        </p:nvSpPr>
        <p:spPr>
          <a:xfrm>
            <a:off x="4343400" y="3794760"/>
            <a:ext cx="566928" cy="566928"/>
          </a:xfrm>
          <a:prstGeom prst="rect">
            <a:avLst/>
          </a:prstGeom>
          <a:noFill/>
          <a:ln/>
        </p:spPr>
        <p:txBody>
          <a:bodyPr wrap="square" rtlCol="0" anchor="ctr"/>
          <a:lstStyle/>
          <a:p>
            <a:pPr algn="ctr" indent="0" marL="0">
              <a:buNone/>
            </a:pPr>
            <a:r>
              <a:rPr lang="en-US" sz="1700" b="1" dirty="0">
                <a:solidFill>
                  <a:srgbClr val="111111"/>
                </a:solidFill>
                <a:latin typeface="Calibri" pitchFamily="34" charset="0"/>
                <a:ea typeface="Calibri" pitchFamily="34" charset="-122"/>
                <a:cs typeface="Calibri" pitchFamily="34" charset="-120"/>
              </a:rPr>
              <a:t>✦</a:t>
            </a:r>
            <a:endParaRPr lang="en-US" sz="1700" dirty="0"/>
          </a:p>
        </p:txBody>
      </p:sp>
      <p:sp>
        <p:nvSpPr>
          <p:cNvPr id="22" name="Text 20"/>
          <p:cNvSpPr/>
          <p:nvPr/>
        </p:nvSpPr>
        <p:spPr>
          <a:xfrm>
            <a:off x="5074920" y="3749040"/>
            <a:ext cx="6766560" cy="45720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Seed the campaign</a:t>
            </a:r>
            <a:endParaRPr lang="en-US" sz="1900" dirty="0"/>
          </a:p>
        </p:txBody>
      </p:sp>
      <p:sp>
        <p:nvSpPr>
          <p:cNvPr id="23" name="Text 21"/>
          <p:cNvSpPr/>
          <p:nvPr/>
        </p:nvSpPr>
        <p:spPr>
          <a:xfrm>
            <a:off x="5074920" y="4206240"/>
            <a:ext cx="6720840" cy="868680"/>
          </a:xfrm>
          <a:prstGeom prst="rect">
            <a:avLst/>
          </a:prstGeom>
          <a:noFill/>
          <a:ln/>
        </p:spPr>
        <p:txBody>
          <a:bodyPr wrap="square" rtlCol="0" anchor="ctr"/>
          <a:lstStyle/>
          <a:p>
            <a:pPr indent="0" marL="0">
              <a:lnSpc>
                <a:spcPct val="112000"/>
              </a:lnSpc>
              <a:buNone/>
            </a:pPr>
            <a:r>
              <a:rPr lang="en-US" sz="1350" dirty="0">
                <a:solidFill>
                  <a:srgbClr val="666666"/>
                </a:solidFill>
                <a:latin typeface="Calibri" pitchFamily="34" charset="0"/>
                <a:ea typeface="Calibri" pitchFamily="34" charset="-122"/>
                <a:cs typeface="Calibri" pitchFamily="34" charset="-120"/>
              </a:rPr>
              <a:t>The creative becomes the opening posts and topics that seed both feeds.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11111"/>
          </a:solidFill>
          <a:ln/>
        </p:spPr>
      </p:sp>
      <p:sp>
        <p:nvSpPr>
          <p:cNvPr id="3" name="Shape 1"/>
          <p:cNvSpPr/>
          <p:nvPr/>
        </p:nvSpPr>
        <p:spPr>
          <a:xfrm>
            <a:off x="-1280160" y="4937760"/>
            <a:ext cx="2926080" cy="2926080"/>
          </a:xfrm>
          <a:prstGeom prst="ellipse">
            <a:avLst/>
          </a:prstGeom>
          <a:solidFill>
            <a:srgbClr val="1C1C1C"/>
          </a:solidFill>
          <a:ln/>
        </p:spPr>
      </p:sp>
      <p:sp>
        <p:nvSpPr>
          <p:cNvPr id="4" name="Text 2"/>
          <p:cNvSpPr/>
          <p:nvPr/>
        </p:nvSpPr>
        <p:spPr>
          <a:xfrm>
            <a:off x="502920" y="777240"/>
            <a:ext cx="2743200" cy="457200"/>
          </a:xfrm>
          <a:prstGeom prst="rect">
            <a:avLst/>
          </a:prstGeom>
          <a:noFill/>
          <a:ln/>
        </p:spPr>
        <p:txBody>
          <a:bodyPr wrap="square" rtlCol="0" anchor="ctr"/>
          <a:lstStyle/>
          <a:p>
            <a:pPr indent="0" marL="0">
              <a:buNone/>
            </a:pPr>
            <a:r>
              <a:rPr lang="en-US" sz="1500" b="1" spc="400" kern="0" dirty="0">
                <a:solidFill>
                  <a:srgbClr val="F97316"/>
                </a:solidFill>
                <a:latin typeface="Calibri" pitchFamily="34" charset="0"/>
                <a:ea typeface="Calibri" pitchFamily="34" charset="-122"/>
                <a:cs typeface="Calibri" pitchFamily="34" charset="-120"/>
              </a:rPr>
              <a:t>STEP 3</a:t>
            </a:r>
            <a:endParaRPr lang="en-US" sz="1500" dirty="0"/>
          </a:p>
        </p:txBody>
      </p:sp>
      <p:sp>
        <p:nvSpPr>
          <p:cNvPr id="5" name="Text 3"/>
          <p:cNvSpPr/>
          <p:nvPr/>
        </p:nvSpPr>
        <p:spPr>
          <a:xfrm>
            <a:off x="320040" y="1051560"/>
            <a:ext cx="3291840" cy="2377440"/>
          </a:xfrm>
          <a:prstGeom prst="rect">
            <a:avLst/>
          </a:prstGeom>
          <a:noFill/>
          <a:ln/>
        </p:spPr>
        <p:txBody>
          <a:bodyPr wrap="square" rtlCol="0" anchor="ctr"/>
          <a:lstStyle/>
          <a:p>
            <a:pPr indent="0" marL="0">
              <a:buNone/>
            </a:pPr>
            <a:r>
              <a:rPr lang="en-US" sz="15000" b="1" dirty="0">
                <a:solidFill>
                  <a:srgbClr val="1C1C1C"/>
                </a:solidFill>
                <a:latin typeface="Calibri" pitchFamily="34" charset="0"/>
                <a:ea typeface="Calibri" pitchFamily="34" charset="-122"/>
                <a:cs typeface="Calibri" pitchFamily="34" charset="-120"/>
              </a:rPr>
              <a:t>3</a:t>
            </a:r>
            <a:endParaRPr lang="en-US" sz="15000" dirty="0"/>
          </a:p>
        </p:txBody>
      </p:sp>
      <p:sp>
        <p:nvSpPr>
          <p:cNvPr id="6" name="Text 4"/>
          <p:cNvSpPr/>
          <p:nvPr/>
        </p:nvSpPr>
        <p:spPr>
          <a:xfrm>
            <a:off x="502920" y="3246120"/>
            <a:ext cx="3017520" cy="1280160"/>
          </a:xfrm>
          <a:prstGeom prst="rect">
            <a:avLst/>
          </a:prstGeom>
          <a:noFill/>
          <a:ln/>
        </p:spPr>
        <p:txBody>
          <a:bodyPr wrap="square" rtlCol="0" anchor="ctr"/>
          <a:lstStyle/>
          <a:p>
            <a:pPr indent="0" marL="0">
              <a:lnSpc>
                <a:spcPct val="100000"/>
              </a:lnSpc>
              <a:buNone/>
            </a:pPr>
            <a:r>
              <a:rPr lang="en-US" sz="2700" b="1" dirty="0">
                <a:solidFill>
                  <a:srgbClr val="FFFFFF"/>
                </a:solidFill>
                <a:latin typeface="Calibri" pitchFamily="34" charset="0"/>
                <a:ea typeface="Calibri" pitchFamily="34" charset="-122"/>
                <a:cs typeface="Calibri" pitchFamily="34" charset="-120"/>
              </a:rPr>
              <a:t>Run the campaign</a:t>
            </a:r>
            <a:endParaRPr lang="en-US" sz="2700" dirty="0"/>
          </a:p>
        </p:txBody>
      </p:sp>
      <p:sp>
        <p:nvSpPr>
          <p:cNvPr id="7" name="Shape 5"/>
          <p:cNvSpPr/>
          <p:nvPr/>
        </p:nvSpPr>
        <p:spPr>
          <a:xfrm>
            <a:off x="502920" y="4892040"/>
            <a:ext cx="457200" cy="457200"/>
          </a:xfrm>
          <a:prstGeom prst="ellipse">
            <a:avLst/>
          </a:prstGeom>
          <a:solidFill>
            <a:srgbClr val="F97316"/>
          </a:solidFill>
          <a:ln/>
        </p:spPr>
      </p:sp>
      <p:sp>
        <p:nvSpPr>
          <p:cNvPr id="8" name="Text 6"/>
          <p:cNvSpPr/>
          <p:nvPr/>
        </p:nvSpPr>
        <p:spPr>
          <a:xfrm>
            <a:off x="502920" y="489204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1024128" y="4846320"/>
            <a:ext cx="2743200" cy="6400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Measure KPIs &amp; Generate Report</a:t>
            </a:r>
            <a:endParaRPr lang="en-US" sz="1300" dirty="0"/>
          </a:p>
        </p:txBody>
      </p:sp>
      <p:sp>
        <p:nvSpPr>
          <p:cNvPr id="10" name="Text 8"/>
          <p:cNvSpPr/>
          <p:nvPr/>
        </p:nvSpPr>
        <p:spPr>
          <a:xfrm>
            <a:off x="502920" y="5532120"/>
            <a:ext cx="2743200" cy="274320"/>
          </a:xfrm>
          <a:prstGeom prst="rect">
            <a:avLst/>
          </a:prstGeom>
          <a:noFill/>
          <a:ln/>
        </p:spPr>
        <p:txBody>
          <a:bodyPr wrap="square" rtlCol="0" anchor="ctr"/>
          <a:lstStyle/>
          <a:p>
            <a:pPr indent="0" marL="0">
              <a:buNone/>
            </a:pPr>
            <a:r>
              <a:rPr lang="en-US" sz="1000" i="1" dirty="0">
                <a:solidFill>
                  <a:srgbClr val="8A8A8A"/>
                </a:solidFill>
                <a:latin typeface="Calibri" pitchFamily="34" charset="0"/>
                <a:ea typeface="Calibri" pitchFamily="34" charset="-122"/>
                <a:cs typeface="Calibri" pitchFamily="34" charset="-120"/>
              </a:rPr>
              <a:t>UI button</a:t>
            </a:r>
            <a:endParaRPr lang="en-US" sz="1000" dirty="0"/>
          </a:p>
        </p:txBody>
      </p:sp>
      <p:sp>
        <p:nvSpPr>
          <p:cNvPr id="11" name="Text 9"/>
          <p:cNvSpPr/>
          <p:nvPr/>
        </p:nvSpPr>
        <p:spPr>
          <a:xfrm>
            <a:off x="4343400" y="457200"/>
            <a:ext cx="7315200" cy="411480"/>
          </a:xfrm>
          <a:prstGeom prst="rect">
            <a:avLst/>
          </a:prstGeom>
          <a:noFill/>
          <a:ln/>
        </p:spPr>
        <p:txBody>
          <a:bodyPr wrap="square" rtlCol="0" anchor="ctr"/>
          <a:lstStyle/>
          <a:p>
            <a:pPr indent="0" marL="0">
              <a:buNone/>
            </a:pPr>
            <a:r>
              <a:rPr lang="en-US" sz="1400" b="1" spc="200" kern="0" dirty="0">
                <a:solidFill>
                  <a:srgbClr val="F97316"/>
                </a:solidFill>
                <a:latin typeface="Calibri" pitchFamily="34" charset="0"/>
                <a:ea typeface="Calibri" pitchFamily="34" charset="-122"/>
                <a:cs typeface="Calibri" pitchFamily="34" charset="-120"/>
              </a:rPr>
              <a:t>Release into both simulated feeds</a:t>
            </a:r>
            <a:endParaRPr lang="en-US" sz="1400" dirty="0"/>
          </a:p>
        </p:txBody>
      </p:sp>
      <p:sp>
        <p:nvSpPr>
          <p:cNvPr id="12" name="Shape 10"/>
          <p:cNvSpPr/>
          <p:nvPr/>
        </p:nvSpPr>
        <p:spPr>
          <a:xfrm>
            <a:off x="4343400" y="960120"/>
            <a:ext cx="566928" cy="566928"/>
          </a:xfrm>
          <a:prstGeom prst="ellipse">
            <a:avLst/>
          </a:prstGeom>
          <a:solidFill>
            <a:srgbClr val="F97316"/>
          </a:solidFill>
          <a:ln/>
        </p:spPr>
      </p:sp>
      <p:sp>
        <p:nvSpPr>
          <p:cNvPr id="13" name="Text 11"/>
          <p:cNvSpPr/>
          <p:nvPr/>
        </p:nvSpPr>
        <p:spPr>
          <a:xfrm>
            <a:off x="4343400" y="960120"/>
            <a:ext cx="566928" cy="566928"/>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5074920" y="914400"/>
            <a:ext cx="6766560" cy="45720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Customers react over N rounds</a:t>
            </a:r>
            <a:endParaRPr lang="en-US" sz="1900" dirty="0"/>
          </a:p>
        </p:txBody>
      </p:sp>
      <p:sp>
        <p:nvSpPr>
          <p:cNvPr id="15" name="Text 13"/>
          <p:cNvSpPr/>
          <p:nvPr/>
        </p:nvSpPr>
        <p:spPr>
          <a:xfrm>
            <a:off x="5074920" y="1371600"/>
            <a:ext cx="6720840" cy="868680"/>
          </a:xfrm>
          <a:prstGeom prst="rect">
            <a:avLst/>
          </a:prstGeom>
          <a:noFill/>
          <a:ln/>
        </p:spPr>
        <p:txBody>
          <a:bodyPr wrap="square" rtlCol="0" anchor="ctr"/>
          <a:lstStyle/>
          <a:p>
            <a:pPr indent="0" marL="0">
              <a:lnSpc>
                <a:spcPct val="112000"/>
              </a:lnSpc>
              <a:buNone/>
            </a:pPr>
            <a:r>
              <a:rPr lang="en-US" sz="1350" dirty="0">
                <a:solidFill>
                  <a:srgbClr val="666666"/>
                </a:solidFill>
                <a:latin typeface="Calibri" pitchFamily="34" charset="0"/>
                <a:ea typeface="Calibri" pitchFamily="34" charset="-122"/>
                <a:cs typeface="Calibri" pitchFamily="34" charset="-120"/>
              </a:rPr>
              <a:t>The OASIS engine drives simulated Info Plaza + Topic Community feeds; each customer posts, comments, likes, reposts.</a:t>
            </a:r>
            <a:endParaRPr lang="en-US" sz="1350" dirty="0"/>
          </a:p>
        </p:txBody>
      </p:sp>
      <p:sp>
        <p:nvSpPr>
          <p:cNvPr id="16" name="Shape 14"/>
          <p:cNvSpPr/>
          <p:nvPr/>
        </p:nvSpPr>
        <p:spPr>
          <a:xfrm>
            <a:off x="4343400" y="2377440"/>
            <a:ext cx="566928" cy="566928"/>
          </a:xfrm>
          <a:prstGeom prst="ellipse">
            <a:avLst/>
          </a:prstGeom>
          <a:solidFill>
            <a:srgbClr val="EA580C"/>
          </a:solidFill>
          <a:ln/>
        </p:spPr>
      </p:sp>
      <p:sp>
        <p:nvSpPr>
          <p:cNvPr id="17" name="Text 15"/>
          <p:cNvSpPr/>
          <p:nvPr/>
        </p:nvSpPr>
        <p:spPr>
          <a:xfrm>
            <a:off x="4343400" y="2377440"/>
            <a:ext cx="566928" cy="566928"/>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8" name="Text 16"/>
          <p:cNvSpPr/>
          <p:nvPr/>
        </p:nvSpPr>
        <p:spPr>
          <a:xfrm>
            <a:off x="5074920" y="2331720"/>
            <a:ext cx="6766560" cy="45720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Watch it live</a:t>
            </a:r>
            <a:endParaRPr lang="en-US" sz="1900" dirty="0"/>
          </a:p>
        </p:txBody>
      </p:sp>
      <p:sp>
        <p:nvSpPr>
          <p:cNvPr id="19" name="Text 17"/>
          <p:cNvSpPr/>
          <p:nvPr/>
        </p:nvSpPr>
        <p:spPr>
          <a:xfrm>
            <a:off x="5074920" y="2788920"/>
            <a:ext cx="6720840" cy="868680"/>
          </a:xfrm>
          <a:prstGeom prst="rect">
            <a:avLst/>
          </a:prstGeom>
          <a:noFill/>
          <a:ln/>
        </p:spPr>
        <p:txBody>
          <a:bodyPr wrap="square" rtlCol="0" anchor="ctr"/>
          <a:lstStyle/>
          <a:p>
            <a:pPr indent="0" marL="0">
              <a:lnSpc>
                <a:spcPct val="112000"/>
              </a:lnSpc>
              <a:buNone/>
            </a:pPr>
            <a:r>
              <a:rPr lang="en-US" sz="1350" dirty="0">
                <a:solidFill>
                  <a:srgbClr val="666666"/>
                </a:solidFill>
                <a:latin typeface="Calibri" pitchFamily="34" charset="0"/>
                <a:ea typeface="Calibri" pitchFamily="34" charset="-122"/>
                <a:cs typeface="Calibri" pitchFamily="34" charset="-120"/>
              </a:rPr>
              <a:t>Two views — Action Stream (a timeline of every act) and Feed Board (the feeds as they fill).</a:t>
            </a:r>
            <a:endParaRPr lang="en-US" sz="1350" dirty="0"/>
          </a:p>
        </p:txBody>
      </p:sp>
      <p:sp>
        <p:nvSpPr>
          <p:cNvPr id="20" name="Shape 18"/>
          <p:cNvSpPr/>
          <p:nvPr/>
        </p:nvSpPr>
        <p:spPr>
          <a:xfrm>
            <a:off x="4343400" y="3794760"/>
            <a:ext cx="566928" cy="566928"/>
          </a:xfrm>
          <a:prstGeom prst="ellipse">
            <a:avLst/>
          </a:prstGeom>
          <a:solidFill>
            <a:srgbClr val="F59E0B"/>
          </a:solidFill>
          <a:ln/>
        </p:spPr>
      </p:sp>
      <p:sp>
        <p:nvSpPr>
          <p:cNvPr id="21" name="Text 19"/>
          <p:cNvSpPr/>
          <p:nvPr/>
        </p:nvSpPr>
        <p:spPr>
          <a:xfrm>
            <a:off x="4343400" y="3794760"/>
            <a:ext cx="566928" cy="566928"/>
          </a:xfrm>
          <a:prstGeom prst="rect">
            <a:avLst/>
          </a:prstGeom>
          <a:noFill/>
          <a:ln/>
        </p:spPr>
        <p:txBody>
          <a:bodyPr wrap="square" rtlCol="0" anchor="ctr"/>
          <a:lstStyle/>
          <a:p>
            <a:pPr algn="ctr" indent="0" marL="0">
              <a:buNone/>
            </a:pPr>
            <a:r>
              <a:rPr lang="en-US" sz="1700" b="1" dirty="0">
                <a:solidFill>
                  <a:srgbClr val="111111"/>
                </a:solidFill>
                <a:latin typeface="Calibri" pitchFamily="34" charset="0"/>
                <a:ea typeface="Calibri" pitchFamily="34" charset="-122"/>
                <a:cs typeface="Calibri" pitchFamily="34" charset="-120"/>
              </a:rPr>
              <a:t>↻</a:t>
            </a:r>
            <a:endParaRPr lang="en-US" sz="1700" dirty="0"/>
          </a:p>
        </p:txBody>
      </p:sp>
      <p:sp>
        <p:nvSpPr>
          <p:cNvPr id="22" name="Text 20"/>
          <p:cNvSpPr/>
          <p:nvPr/>
        </p:nvSpPr>
        <p:spPr>
          <a:xfrm>
            <a:off x="5074920" y="3749040"/>
            <a:ext cx="6766560" cy="45720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Dynamic graph memory</a:t>
            </a:r>
            <a:endParaRPr lang="en-US" sz="1900" dirty="0"/>
          </a:p>
        </p:txBody>
      </p:sp>
      <p:sp>
        <p:nvSpPr>
          <p:cNvPr id="23" name="Text 21"/>
          <p:cNvSpPr/>
          <p:nvPr/>
        </p:nvSpPr>
        <p:spPr>
          <a:xfrm>
            <a:off x="5074920" y="4206240"/>
            <a:ext cx="6720840" cy="868680"/>
          </a:xfrm>
          <a:prstGeom prst="rect">
            <a:avLst/>
          </a:prstGeom>
          <a:noFill/>
          <a:ln/>
        </p:spPr>
        <p:txBody>
          <a:bodyPr wrap="square" rtlCol="0" anchor="ctr"/>
          <a:lstStyle/>
          <a:p>
            <a:pPr indent="0" marL="0">
              <a:lnSpc>
                <a:spcPct val="112000"/>
              </a:lnSpc>
              <a:buNone/>
            </a:pPr>
            <a:r>
              <a:rPr lang="en-US" sz="1350" dirty="0">
                <a:solidFill>
                  <a:srgbClr val="666666"/>
                </a:solidFill>
                <a:latin typeface="Calibri" pitchFamily="34" charset="0"/>
                <a:ea typeface="Calibri" pitchFamily="34" charset="-122"/>
                <a:cs typeface="Calibri" pitchFamily="34" charset="-120"/>
              </a:rPr>
              <a:t>Optionally the knowledge graph updates in real time as the simulation runs.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11111"/>
          </a:solidFill>
          <a:ln/>
        </p:spPr>
      </p:sp>
      <p:sp>
        <p:nvSpPr>
          <p:cNvPr id="3" name="Shape 1"/>
          <p:cNvSpPr/>
          <p:nvPr/>
        </p:nvSpPr>
        <p:spPr>
          <a:xfrm>
            <a:off x="-1280160" y="4937760"/>
            <a:ext cx="2926080" cy="2926080"/>
          </a:xfrm>
          <a:prstGeom prst="ellipse">
            <a:avLst/>
          </a:prstGeom>
          <a:solidFill>
            <a:srgbClr val="1C1C1C"/>
          </a:solidFill>
          <a:ln/>
        </p:spPr>
      </p:sp>
      <p:sp>
        <p:nvSpPr>
          <p:cNvPr id="4" name="Text 2"/>
          <p:cNvSpPr/>
          <p:nvPr/>
        </p:nvSpPr>
        <p:spPr>
          <a:xfrm>
            <a:off x="502920" y="777240"/>
            <a:ext cx="2743200" cy="457200"/>
          </a:xfrm>
          <a:prstGeom prst="rect">
            <a:avLst/>
          </a:prstGeom>
          <a:noFill/>
          <a:ln/>
        </p:spPr>
        <p:txBody>
          <a:bodyPr wrap="square" rtlCol="0" anchor="ctr"/>
          <a:lstStyle/>
          <a:p>
            <a:pPr indent="0" marL="0">
              <a:buNone/>
            </a:pPr>
            <a:r>
              <a:rPr lang="en-US" sz="1500" b="1" spc="400" kern="0" dirty="0">
                <a:solidFill>
                  <a:srgbClr val="F97316"/>
                </a:solidFill>
                <a:latin typeface="Calibri" pitchFamily="34" charset="0"/>
                <a:ea typeface="Calibri" pitchFamily="34" charset="-122"/>
                <a:cs typeface="Calibri" pitchFamily="34" charset="-120"/>
              </a:rPr>
              <a:t>STEP 4</a:t>
            </a:r>
            <a:endParaRPr lang="en-US" sz="1500" dirty="0"/>
          </a:p>
        </p:txBody>
      </p:sp>
      <p:sp>
        <p:nvSpPr>
          <p:cNvPr id="5" name="Text 3"/>
          <p:cNvSpPr/>
          <p:nvPr/>
        </p:nvSpPr>
        <p:spPr>
          <a:xfrm>
            <a:off x="320040" y="1051560"/>
            <a:ext cx="3291840" cy="2377440"/>
          </a:xfrm>
          <a:prstGeom prst="rect">
            <a:avLst/>
          </a:prstGeom>
          <a:noFill/>
          <a:ln/>
        </p:spPr>
        <p:txBody>
          <a:bodyPr wrap="square" rtlCol="0" anchor="ctr"/>
          <a:lstStyle/>
          <a:p>
            <a:pPr indent="0" marL="0">
              <a:buNone/>
            </a:pPr>
            <a:r>
              <a:rPr lang="en-US" sz="15000" b="1" dirty="0">
                <a:solidFill>
                  <a:srgbClr val="1C1C1C"/>
                </a:solidFill>
                <a:latin typeface="Calibri" pitchFamily="34" charset="0"/>
                <a:ea typeface="Calibri" pitchFamily="34" charset="-122"/>
                <a:cs typeface="Calibri" pitchFamily="34" charset="-120"/>
              </a:rPr>
              <a:t>4</a:t>
            </a:r>
            <a:endParaRPr lang="en-US" sz="15000" dirty="0"/>
          </a:p>
        </p:txBody>
      </p:sp>
      <p:sp>
        <p:nvSpPr>
          <p:cNvPr id="6" name="Text 4"/>
          <p:cNvSpPr/>
          <p:nvPr/>
        </p:nvSpPr>
        <p:spPr>
          <a:xfrm>
            <a:off x="502920" y="3246120"/>
            <a:ext cx="3017520" cy="1280160"/>
          </a:xfrm>
          <a:prstGeom prst="rect">
            <a:avLst/>
          </a:prstGeom>
          <a:noFill/>
          <a:ln/>
        </p:spPr>
        <p:txBody>
          <a:bodyPr wrap="square" rtlCol="0" anchor="ctr"/>
          <a:lstStyle/>
          <a:p>
            <a:pPr indent="0" marL="0">
              <a:lnSpc>
                <a:spcPct val="100000"/>
              </a:lnSpc>
              <a:buNone/>
            </a:pPr>
            <a:r>
              <a:rPr lang="en-US" sz="2700" b="1" dirty="0">
                <a:solidFill>
                  <a:srgbClr val="FFFFFF"/>
                </a:solidFill>
                <a:latin typeface="Calibri" pitchFamily="34" charset="0"/>
                <a:ea typeface="Calibri" pitchFamily="34" charset="-122"/>
                <a:cs typeface="Calibri" pitchFamily="34" charset="-120"/>
              </a:rPr>
              <a:t>Measure &amp; report</a:t>
            </a:r>
            <a:endParaRPr lang="en-US" sz="2700" dirty="0"/>
          </a:p>
        </p:txBody>
      </p:sp>
      <p:sp>
        <p:nvSpPr>
          <p:cNvPr id="7" name="Shape 5"/>
          <p:cNvSpPr/>
          <p:nvPr/>
        </p:nvSpPr>
        <p:spPr>
          <a:xfrm>
            <a:off x="502920" y="4892040"/>
            <a:ext cx="457200" cy="457200"/>
          </a:xfrm>
          <a:prstGeom prst="ellipse">
            <a:avLst/>
          </a:prstGeom>
          <a:solidFill>
            <a:srgbClr val="F97316"/>
          </a:solidFill>
          <a:ln/>
        </p:spPr>
      </p:sp>
      <p:sp>
        <p:nvSpPr>
          <p:cNvPr id="8" name="Text 6"/>
          <p:cNvSpPr/>
          <p:nvPr/>
        </p:nvSpPr>
        <p:spPr>
          <a:xfrm>
            <a:off x="502920" y="489204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1024128" y="4846320"/>
            <a:ext cx="2743200" cy="6400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Interview Customers</a:t>
            </a:r>
            <a:endParaRPr lang="en-US" sz="1300" dirty="0"/>
          </a:p>
        </p:txBody>
      </p:sp>
      <p:sp>
        <p:nvSpPr>
          <p:cNvPr id="10" name="Text 8"/>
          <p:cNvSpPr/>
          <p:nvPr/>
        </p:nvSpPr>
        <p:spPr>
          <a:xfrm>
            <a:off x="502920" y="5532120"/>
            <a:ext cx="2743200" cy="274320"/>
          </a:xfrm>
          <a:prstGeom prst="rect">
            <a:avLst/>
          </a:prstGeom>
          <a:noFill/>
          <a:ln/>
        </p:spPr>
        <p:txBody>
          <a:bodyPr wrap="square" rtlCol="0" anchor="ctr"/>
          <a:lstStyle/>
          <a:p>
            <a:pPr indent="0" marL="0">
              <a:buNone/>
            </a:pPr>
            <a:r>
              <a:rPr lang="en-US" sz="1000" i="1" dirty="0">
                <a:solidFill>
                  <a:srgbClr val="8A8A8A"/>
                </a:solidFill>
                <a:latin typeface="Calibri" pitchFamily="34" charset="0"/>
                <a:ea typeface="Calibri" pitchFamily="34" charset="-122"/>
                <a:cs typeface="Calibri" pitchFamily="34" charset="-120"/>
              </a:rPr>
              <a:t>UI button</a:t>
            </a:r>
            <a:endParaRPr lang="en-US" sz="1000" dirty="0"/>
          </a:p>
        </p:txBody>
      </p:sp>
      <p:sp>
        <p:nvSpPr>
          <p:cNvPr id="11" name="Text 9"/>
          <p:cNvSpPr/>
          <p:nvPr/>
        </p:nvSpPr>
        <p:spPr>
          <a:xfrm>
            <a:off x="4343400" y="457200"/>
            <a:ext cx="7498080" cy="411480"/>
          </a:xfrm>
          <a:prstGeom prst="rect">
            <a:avLst/>
          </a:prstGeom>
          <a:noFill/>
          <a:ln/>
        </p:spPr>
        <p:txBody>
          <a:bodyPr wrap="square" rtlCol="0" anchor="ctr"/>
          <a:lstStyle/>
          <a:p>
            <a:pPr indent="0" marL="0">
              <a:buNone/>
            </a:pPr>
            <a:r>
              <a:rPr lang="en-US" sz="1400" b="1" spc="200" kern="0" dirty="0">
                <a:solidFill>
                  <a:srgbClr val="F97316"/>
                </a:solidFill>
                <a:latin typeface="Calibri" pitchFamily="34" charset="0"/>
                <a:ea typeface="Calibri" pitchFamily="34" charset="-122"/>
                <a:cs typeface="Calibri" pitchFamily="34" charset="-120"/>
              </a:rPr>
              <a:t>Campaign Assessment — the report outline</a:t>
            </a:r>
            <a:endParaRPr lang="en-US" sz="1400" dirty="0"/>
          </a:p>
        </p:txBody>
      </p:sp>
      <p:sp>
        <p:nvSpPr>
          <p:cNvPr id="12" name="Text 10"/>
          <p:cNvSpPr/>
          <p:nvPr/>
        </p:nvSpPr>
        <p:spPr>
          <a:xfrm>
            <a:off x="4343400" y="859536"/>
            <a:ext cx="7543800" cy="457200"/>
          </a:xfrm>
          <a:prstGeom prst="rect">
            <a:avLst/>
          </a:prstGeom>
          <a:noFill/>
          <a:ln/>
        </p:spPr>
        <p:txBody>
          <a:bodyPr wrap="square" rtlCol="0" anchor="ctr"/>
          <a:lstStyle/>
          <a:p>
            <a:pPr indent="0" marL="0">
              <a:buNone/>
            </a:pPr>
            <a:r>
              <a:rPr lang="en-US" sz="1300" dirty="0">
                <a:solidFill>
                  <a:srgbClr val="666666"/>
                </a:solidFill>
                <a:latin typeface="Calibri" pitchFamily="34" charset="0"/>
                <a:ea typeface="Calibri" pitchFamily="34" charset="-122"/>
                <a:cs typeface="Calibri" pitchFamily="34" charset="-120"/>
              </a:rPr>
              <a:t>A Report Agent reads the counted KPIs plus the graph and writes five fixed sections:</a:t>
            </a:r>
            <a:endParaRPr lang="en-US" sz="1300" dirty="0"/>
          </a:p>
        </p:txBody>
      </p:sp>
      <p:sp>
        <p:nvSpPr>
          <p:cNvPr id="13" name="Shape 11"/>
          <p:cNvSpPr/>
          <p:nvPr/>
        </p:nvSpPr>
        <p:spPr>
          <a:xfrm>
            <a:off x="4343400" y="1481328"/>
            <a:ext cx="7498080" cy="786384"/>
          </a:xfrm>
          <a:prstGeom prst="roundRect">
            <a:avLst>
              <a:gd name="adj" fmla="val 9302"/>
            </a:avLst>
          </a:prstGeom>
          <a:solidFill>
            <a:srgbClr val="FAFAFA"/>
          </a:solidFill>
          <a:ln w="12700">
            <a:solidFill>
              <a:srgbClr val="E5E5E5"/>
            </a:solidFill>
            <a:prstDash val="solid"/>
          </a:ln>
        </p:spPr>
      </p:sp>
      <p:sp>
        <p:nvSpPr>
          <p:cNvPr id="14" name="Shape 12"/>
          <p:cNvSpPr/>
          <p:nvPr/>
        </p:nvSpPr>
        <p:spPr>
          <a:xfrm>
            <a:off x="4507992" y="1627632"/>
            <a:ext cx="493776" cy="493776"/>
          </a:xfrm>
          <a:prstGeom prst="ellipse">
            <a:avLst/>
          </a:prstGeom>
          <a:solidFill>
            <a:srgbClr val="F97316"/>
          </a:solidFill>
          <a:ln/>
        </p:spPr>
      </p:sp>
      <p:sp>
        <p:nvSpPr>
          <p:cNvPr id="15" name="Text 13"/>
          <p:cNvSpPr/>
          <p:nvPr/>
        </p:nvSpPr>
        <p:spPr>
          <a:xfrm>
            <a:off x="4507992" y="1627632"/>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6" name="Text 14"/>
          <p:cNvSpPr/>
          <p:nvPr/>
        </p:nvSpPr>
        <p:spPr>
          <a:xfrm>
            <a:off x="5138928" y="1481328"/>
            <a:ext cx="6583680" cy="786384"/>
          </a:xfrm>
          <a:prstGeom prst="rect">
            <a:avLst/>
          </a:prstGeom>
          <a:noFill/>
          <a:ln/>
        </p:spPr>
        <p:txBody>
          <a:bodyPr wrap="square" rtlCol="0" anchor="ctr"/>
          <a:lstStyle/>
          <a:p>
            <a:pPr indent="0" marL="0">
              <a:buNone/>
            </a:pPr>
            <a:r>
              <a:rPr lang="en-US" sz="1800" b="1" dirty="0">
                <a:solidFill>
                  <a:srgbClr val="111111"/>
                </a:solidFill>
                <a:latin typeface="Calibri" pitchFamily="34" charset="0"/>
                <a:ea typeface="Calibri" pitchFamily="34" charset="-122"/>
                <a:cs typeface="Calibri" pitchFamily="34" charset="-120"/>
              </a:rPr>
              <a:t>Who saw it</a:t>
            </a:r>
            <a:endParaRPr lang="en-US" sz="1800" dirty="0"/>
          </a:p>
        </p:txBody>
      </p:sp>
      <p:sp>
        <p:nvSpPr>
          <p:cNvPr id="17" name="Shape 15"/>
          <p:cNvSpPr/>
          <p:nvPr/>
        </p:nvSpPr>
        <p:spPr>
          <a:xfrm>
            <a:off x="4343400" y="2414016"/>
            <a:ext cx="7498080" cy="786384"/>
          </a:xfrm>
          <a:prstGeom prst="roundRect">
            <a:avLst>
              <a:gd name="adj" fmla="val 9302"/>
            </a:avLst>
          </a:prstGeom>
          <a:solidFill>
            <a:srgbClr val="FAFAFA"/>
          </a:solidFill>
          <a:ln w="12700">
            <a:solidFill>
              <a:srgbClr val="E5E5E5"/>
            </a:solidFill>
            <a:prstDash val="solid"/>
          </a:ln>
        </p:spPr>
      </p:sp>
      <p:sp>
        <p:nvSpPr>
          <p:cNvPr id="18" name="Shape 16"/>
          <p:cNvSpPr/>
          <p:nvPr/>
        </p:nvSpPr>
        <p:spPr>
          <a:xfrm>
            <a:off x="4507992" y="2560320"/>
            <a:ext cx="493776" cy="493776"/>
          </a:xfrm>
          <a:prstGeom prst="ellipse">
            <a:avLst/>
          </a:prstGeom>
          <a:solidFill>
            <a:srgbClr val="F97316"/>
          </a:solidFill>
          <a:ln/>
        </p:spPr>
      </p:sp>
      <p:sp>
        <p:nvSpPr>
          <p:cNvPr id="19" name="Text 17"/>
          <p:cNvSpPr/>
          <p:nvPr/>
        </p:nvSpPr>
        <p:spPr>
          <a:xfrm>
            <a:off x="4507992" y="256032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20" name="Text 18"/>
          <p:cNvSpPr/>
          <p:nvPr/>
        </p:nvSpPr>
        <p:spPr>
          <a:xfrm>
            <a:off x="5138928" y="2414016"/>
            <a:ext cx="6583680" cy="786384"/>
          </a:xfrm>
          <a:prstGeom prst="rect">
            <a:avLst/>
          </a:prstGeom>
          <a:noFill/>
          <a:ln/>
        </p:spPr>
        <p:txBody>
          <a:bodyPr wrap="square" rtlCol="0" anchor="ctr"/>
          <a:lstStyle/>
          <a:p>
            <a:pPr indent="0" marL="0">
              <a:buNone/>
            </a:pPr>
            <a:r>
              <a:rPr lang="en-US" sz="1800" b="1" dirty="0">
                <a:solidFill>
                  <a:srgbClr val="111111"/>
                </a:solidFill>
                <a:latin typeface="Calibri" pitchFamily="34" charset="0"/>
                <a:ea typeface="Calibri" pitchFamily="34" charset="-122"/>
                <a:cs typeface="Calibri" pitchFamily="34" charset="-120"/>
              </a:rPr>
              <a:t>How they reacted</a:t>
            </a:r>
            <a:endParaRPr lang="en-US" sz="1800" dirty="0"/>
          </a:p>
        </p:txBody>
      </p:sp>
      <p:sp>
        <p:nvSpPr>
          <p:cNvPr id="21" name="Shape 19"/>
          <p:cNvSpPr/>
          <p:nvPr/>
        </p:nvSpPr>
        <p:spPr>
          <a:xfrm>
            <a:off x="4343400" y="3346704"/>
            <a:ext cx="7498080" cy="786384"/>
          </a:xfrm>
          <a:prstGeom prst="roundRect">
            <a:avLst>
              <a:gd name="adj" fmla="val 9302"/>
            </a:avLst>
          </a:prstGeom>
          <a:solidFill>
            <a:srgbClr val="FAFAFA"/>
          </a:solidFill>
          <a:ln w="12700">
            <a:solidFill>
              <a:srgbClr val="E5E5E5"/>
            </a:solidFill>
            <a:prstDash val="solid"/>
          </a:ln>
        </p:spPr>
      </p:sp>
      <p:sp>
        <p:nvSpPr>
          <p:cNvPr id="22" name="Shape 20"/>
          <p:cNvSpPr/>
          <p:nvPr/>
        </p:nvSpPr>
        <p:spPr>
          <a:xfrm>
            <a:off x="4507992" y="3493008"/>
            <a:ext cx="493776" cy="493776"/>
          </a:xfrm>
          <a:prstGeom prst="ellipse">
            <a:avLst/>
          </a:prstGeom>
          <a:solidFill>
            <a:srgbClr val="F97316"/>
          </a:solidFill>
          <a:ln/>
        </p:spPr>
      </p:sp>
      <p:sp>
        <p:nvSpPr>
          <p:cNvPr id="23" name="Text 21"/>
          <p:cNvSpPr/>
          <p:nvPr/>
        </p:nvSpPr>
        <p:spPr>
          <a:xfrm>
            <a:off x="4507992" y="3493008"/>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4" name="Text 22"/>
          <p:cNvSpPr/>
          <p:nvPr/>
        </p:nvSpPr>
        <p:spPr>
          <a:xfrm>
            <a:off x="5138928" y="3346704"/>
            <a:ext cx="6583680" cy="786384"/>
          </a:xfrm>
          <a:prstGeom prst="rect">
            <a:avLst/>
          </a:prstGeom>
          <a:noFill/>
          <a:ln/>
        </p:spPr>
        <p:txBody>
          <a:bodyPr wrap="square" rtlCol="0" anchor="ctr"/>
          <a:lstStyle/>
          <a:p>
            <a:pPr indent="0" marL="0">
              <a:buNone/>
            </a:pPr>
            <a:r>
              <a:rPr lang="en-US" sz="1800" b="1" dirty="0">
                <a:solidFill>
                  <a:srgbClr val="111111"/>
                </a:solidFill>
                <a:latin typeface="Calibri" pitchFamily="34" charset="0"/>
                <a:ea typeface="Calibri" pitchFamily="34" charset="-122"/>
                <a:cs typeface="Calibri" pitchFamily="34" charset="-120"/>
              </a:rPr>
              <a:t>How far it spread</a:t>
            </a:r>
            <a:endParaRPr lang="en-US" sz="1800" dirty="0"/>
          </a:p>
        </p:txBody>
      </p:sp>
      <p:sp>
        <p:nvSpPr>
          <p:cNvPr id="25" name="Shape 23"/>
          <p:cNvSpPr/>
          <p:nvPr/>
        </p:nvSpPr>
        <p:spPr>
          <a:xfrm>
            <a:off x="4343400" y="4279392"/>
            <a:ext cx="7498080" cy="786384"/>
          </a:xfrm>
          <a:prstGeom prst="roundRect">
            <a:avLst>
              <a:gd name="adj" fmla="val 9302"/>
            </a:avLst>
          </a:prstGeom>
          <a:solidFill>
            <a:srgbClr val="FAFAFA"/>
          </a:solidFill>
          <a:ln w="12700">
            <a:solidFill>
              <a:srgbClr val="E5E5E5"/>
            </a:solidFill>
            <a:prstDash val="solid"/>
          </a:ln>
        </p:spPr>
      </p:sp>
      <p:sp>
        <p:nvSpPr>
          <p:cNvPr id="26" name="Shape 24"/>
          <p:cNvSpPr/>
          <p:nvPr/>
        </p:nvSpPr>
        <p:spPr>
          <a:xfrm>
            <a:off x="4507992" y="4425696"/>
            <a:ext cx="493776" cy="493776"/>
          </a:xfrm>
          <a:prstGeom prst="ellipse">
            <a:avLst/>
          </a:prstGeom>
          <a:solidFill>
            <a:srgbClr val="F97316"/>
          </a:solidFill>
          <a:ln/>
        </p:spPr>
      </p:sp>
      <p:sp>
        <p:nvSpPr>
          <p:cNvPr id="27" name="Text 25"/>
          <p:cNvSpPr/>
          <p:nvPr/>
        </p:nvSpPr>
        <p:spPr>
          <a:xfrm>
            <a:off x="4507992" y="4425696"/>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8" name="Text 26"/>
          <p:cNvSpPr/>
          <p:nvPr/>
        </p:nvSpPr>
        <p:spPr>
          <a:xfrm>
            <a:off x="5138928" y="4279392"/>
            <a:ext cx="6583680" cy="786384"/>
          </a:xfrm>
          <a:prstGeom prst="rect">
            <a:avLst/>
          </a:prstGeom>
          <a:noFill/>
          <a:ln/>
        </p:spPr>
        <p:txBody>
          <a:bodyPr wrap="square" rtlCol="0" anchor="ctr"/>
          <a:lstStyle/>
          <a:p>
            <a:pPr indent="0" marL="0">
              <a:buNone/>
            </a:pPr>
            <a:r>
              <a:rPr lang="en-US" sz="1800" b="1" dirty="0">
                <a:solidFill>
                  <a:srgbClr val="111111"/>
                </a:solidFill>
                <a:latin typeface="Calibri" pitchFamily="34" charset="0"/>
                <a:ea typeface="Calibri" pitchFamily="34" charset="-122"/>
                <a:cs typeface="Calibri" pitchFamily="34" charset="-120"/>
              </a:rPr>
              <a:t>Which groups liked it, which didn't</a:t>
            </a:r>
            <a:endParaRPr lang="en-US" sz="1800" dirty="0"/>
          </a:p>
        </p:txBody>
      </p:sp>
      <p:sp>
        <p:nvSpPr>
          <p:cNvPr id="29" name="Shape 27"/>
          <p:cNvSpPr/>
          <p:nvPr/>
        </p:nvSpPr>
        <p:spPr>
          <a:xfrm>
            <a:off x="4343400" y="5212080"/>
            <a:ext cx="7498080" cy="786384"/>
          </a:xfrm>
          <a:prstGeom prst="roundRect">
            <a:avLst>
              <a:gd name="adj" fmla="val 9302"/>
            </a:avLst>
          </a:prstGeom>
          <a:solidFill>
            <a:srgbClr val="FAFAFA"/>
          </a:solidFill>
          <a:ln w="12700">
            <a:solidFill>
              <a:srgbClr val="E5E5E5"/>
            </a:solidFill>
            <a:prstDash val="solid"/>
          </a:ln>
        </p:spPr>
      </p:sp>
      <p:sp>
        <p:nvSpPr>
          <p:cNvPr id="30" name="Shape 28"/>
          <p:cNvSpPr/>
          <p:nvPr/>
        </p:nvSpPr>
        <p:spPr>
          <a:xfrm>
            <a:off x="4507992" y="5358384"/>
            <a:ext cx="493776" cy="493776"/>
          </a:xfrm>
          <a:prstGeom prst="ellipse">
            <a:avLst/>
          </a:prstGeom>
          <a:solidFill>
            <a:srgbClr val="F59E0B"/>
          </a:solidFill>
          <a:ln/>
        </p:spPr>
      </p:sp>
      <p:sp>
        <p:nvSpPr>
          <p:cNvPr id="31" name="Text 29"/>
          <p:cNvSpPr/>
          <p:nvPr/>
        </p:nvSpPr>
        <p:spPr>
          <a:xfrm>
            <a:off x="4507992" y="5358384"/>
            <a:ext cx="493776" cy="493776"/>
          </a:xfrm>
          <a:prstGeom prst="rect">
            <a:avLst/>
          </a:prstGeom>
          <a:noFill/>
          <a:ln/>
        </p:spPr>
        <p:txBody>
          <a:bodyPr wrap="square" rtlCol="0" anchor="ctr"/>
          <a:lstStyle/>
          <a:p>
            <a:pPr algn="ctr" indent="0" marL="0">
              <a:buNone/>
            </a:pPr>
            <a:r>
              <a:rPr lang="en-US" sz="1700" b="1" dirty="0">
                <a:solidFill>
                  <a:srgbClr val="111111"/>
                </a:solidFill>
                <a:latin typeface="Calibri" pitchFamily="34" charset="0"/>
                <a:ea typeface="Calibri" pitchFamily="34" charset="-122"/>
                <a:cs typeface="Calibri" pitchFamily="34" charset="-120"/>
              </a:rPr>
              <a:t>5</a:t>
            </a:r>
            <a:endParaRPr lang="en-US" sz="1700" dirty="0"/>
          </a:p>
        </p:txBody>
      </p:sp>
      <p:sp>
        <p:nvSpPr>
          <p:cNvPr id="32" name="Text 30"/>
          <p:cNvSpPr/>
          <p:nvPr/>
        </p:nvSpPr>
        <p:spPr>
          <a:xfrm>
            <a:off x="5138928" y="5212080"/>
            <a:ext cx="6583680" cy="786384"/>
          </a:xfrm>
          <a:prstGeom prst="rect">
            <a:avLst/>
          </a:prstGeom>
          <a:noFill/>
          <a:ln/>
        </p:spPr>
        <p:txBody>
          <a:bodyPr wrap="square" rtlCol="0" anchor="ctr"/>
          <a:lstStyle/>
          <a:p>
            <a:pPr indent="0" marL="0">
              <a:buNone/>
            </a:pPr>
            <a:r>
              <a:rPr lang="en-US" sz="1800" b="1" dirty="0">
                <a:solidFill>
                  <a:srgbClr val="111111"/>
                </a:solidFill>
                <a:latin typeface="Calibri" pitchFamily="34" charset="0"/>
                <a:ea typeface="Calibri" pitchFamily="34" charset="-122"/>
                <a:cs typeface="Calibri" pitchFamily="34" charset="-120"/>
              </a:rPr>
              <a:t>What to fix before launch</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11111"/>
          </a:solidFill>
          <a:ln/>
        </p:spPr>
      </p:sp>
      <p:sp>
        <p:nvSpPr>
          <p:cNvPr id="3" name="Shape 1"/>
          <p:cNvSpPr/>
          <p:nvPr/>
        </p:nvSpPr>
        <p:spPr>
          <a:xfrm>
            <a:off x="-1280160" y="4937760"/>
            <a:ext cx="2926080" cy="2926080"/>
          </a:xfrm>
          <a:prstGeom prst="ellipse">
            <a:avLst/>
          </a:prstGeom>
          <a:solidFill>
            <a:srgbClr val="1C1C1C"/>
          </a:solidFill>
          <a:ln/>
        </p:spPr>
      </p:sp>
      <p:sp>
        <p:nvSpPr>
          <p:cNvPr id="4" name="Text 2"/>
          <p:cNvSpPr/>
          <p:nvPr/>
        </p:nvSpPr>
        <p:spPr>
          <a:xfrm>
            <a:off x="502920" y="777240"/>
            <a:ext cx="2743200" cy="457200"/>
          </a:xfrm>
          <a:prstGeom prst="rect">
            <a:avLst/>
          </a:prstGeom>
          <a:noFill/>
          <a:ln/>
        </p:spPr>
        <p:txBody>
          <a:bodyPr wrap="square" rtlCol="0" anchor="ctr"/>
          <a:lstStyle/>
          <a:p>
            <a:pPr indent="0" marL="0">
              <a:buNone/>
            </a:pPr>
            <a:r>
              <a:rPr lang="en-US" sz="1500" b="1" spc="400" kern="0" dirty="0">
                <a:solidFill>
                  <a:srgbClr val="F97316"/>
                </a:solidFill>
                <a:latin typeface="Calibri" pitchFamily="34" charset="0"/>
                <a:ea typeface="Calibri" pitchFamily="34" charset="-122"/>
                <a:cs typeface="Calibri" pitchFamily="34" charset="-120"/>
              </a:rPr>
              <a:t>STEP 5</a:t>
            </a:r>
            <a:endParaRPr lang="en-US" sz="1500" dirty="0"/>
          </a:p>
        </p:txBody>
      </p:sp>
      <p:sp>
        <p:nvSpPr>
          <p:cNvPr id="5" name="Text 3"/>
          <p:cNvSpPr/>
          <p:nvPr/>
        </p:nvSpPr>
        <p:spPr>
          <a:xfrm>
            <a:off x="320040" y="1051560"/>
            <a:ext cx="3291840" cy="2377440"/>
          </a:xfrm>
          <a:prstGeom prst="rect">
            <a:avLst/>
          </a:prstGeom>
          <a:noFill/>
          <a:ln/>
        </p:spPr>
        <p:txBody>
          <a:bodyPr wrap="square" rtlCol="0" anchor="ctr"/>
          <a:lstStyle/>
          <a:p>
            <a:pPr indent="0" marL="0">
              <a:buNone/>
            </a:pPr>
            <a:r>
              <a:rPr lang="en-US" sz="15000" b="1" dirty="0">
                <a:solidFill>
                  <a:srgbClr val="1C1C1C"/>
                </a:solidFill>
                <a:latin typeface="Calibri" pitchFamily="34" charset="0"/>
                <a:ea typeface="Calibri" pitchFamily="34" charset="-122"/>
                <a:cs typeface="Calibri" pitchFamily="34" charset="-120"/>
              </a:rPr>
              <a:t>5</a:t>
            </a:r>
            <a:endParaRPr lang="en-US" sz="15000" dirty="0"/>
          </a:p>
        </p:txBody>
      </p:sp>
      <p:sp>
        <p:nvSpPr>
          <p:cNvPr id="6" name="Text 4"/>
          <p:cNvSpPr/>
          <p:nvPr/>
        </p:nvSpPr>
        <p:spPr>
          <a:xfrm>
            <a:off x="502920" y="3246120"/>
            <a:ext cx="3017520" cy="1280160"/>
          </a:xfrm>
          <a:prstGeom prst="rect">
            <a:avLst/>
          </a:prstGeom>
          <a:noFill/>
          <a:ln/>
        </p:spPr>
        <p:txBody>
          <a:bodyPr wrap="square" rtlCol="0" anchor="ctr"/>
          <a:lstStyle/>
          <a:p>
            <a:pPr indent="0" marL="0">
              <a:lnSpc>
                <a:spcPct val="100000"/>
              </a:lnSpc>
              <a:buNone/>
            </a:pPr>
            <a:r>
              <a:rPr lang="en-US" sz="2700" b="1" dirty="0">
                <a:solidFill>
                  <a:srgbClr val="FFFFFF"/>
                </a:solidFill>
                <a:latin typeface="Calibri" pitchFamily="34" charset="0"/>
                <a:ea typeface="Calibri" pitchFamily="34" charset="-122"/>
                <a:cs typeface="Calibri" pitchFamily="34" charset="-120"/>
              </a:rPr>
              <a:t>Ask follow-ups</a:t>
            </a:r>
            <a:endParaRPr lang="en-US" sz="2700" dirty="0"/>
          </a:p>
        </p:txBody>
      </p:sp>
      <p:sp>
        <p:nvSpPr>
          <p:cNvPr id="7" name="Shape 5"/>
          <p:cNvSpPr/>
          <p:nvPr/>
        </p:nvSpPr>
        <p:spPr>
          <a:xfrm>
            <a:off x="502920" y="4892040"/>
            <a:ext cx="457200" cy="457200"/>
          </a:xfrm>
          <a:prstGeom prst="ellipse">
            <a:avLst/>
          </a:prstGeom>
          <a:solidFill>
            <a:srgbClr val="F97316"/>
          </a:solidFill>
          <a:ln/>
        </p:spPr>
      </p:sp>
      <p:sp>
        <p:nvSpPr>
          <p:cNvPr id="8" name="Text 6"/>
          <p:cNvSpPr/>
          <p:nvPr/>
        </p:nvSpPr>
        <p:spPr>
          <a:xfrm>
            <a:off x="502920" y="489204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1024128" y="4846320"/>
            <a:ext cx="2743200" cy="6400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Done — or start another test</a:t>
            </a:r>
            <a:endParaRPr lang="en-US" sz="1300" dirty="0"/>
          </a:p>
        </p:txBody>
      </p:sp>
      <p:sp>
        <p:nvSpPr>
          <p:cNvPr id="10" name="Text 8"/>
          <p:cNvSpPr/>
          <p:nvPr/>
        </p:nvSpPr>
        <p:spPr>
          <a:xfrm>
            <a:off x="502920" y="5532120"/>
            <a:ext cx="2743200" cy="274320"/>
          </a:xfrm>
          <a:prstGeom prst="rect">
            <a:avLst/>
          </a:prstGeom>
          <a:noFill/>
          <a:ln/>
        </p:spPr>
        <p:txBody>
          <a:bodyPr wrap="square" rtlCol="0" anchor="ctr"/>
          <a:lstStyle/>
          <a:p>
            <a:pPr indent="0" marL="0">
              <a:buNone/>
            </a:pPr>
            <a:r>
              <a:rPr lang="en-US" sz="1000" i="1" dirty="0">
                <a:solidFill>
                  <a:srgbClr val="8A8A8A"/>
                </a:solidFill>
                <a:latin typeface="Calibri" pitchFamily="34" charset="0"/>
                <a:ea typeface="Calibri" pitchFamily="34" charset="-122"/>
                <a:cs typeface="Calibri" pitchFamily="34" charset="-120"/>
              </a:rPr>
              <a:t>UI button</a:t>
            </a:r>
            <a:endParaRPr lang="en-US" sz="1000" dirty="0"/>
          </a:p>
        </p:txBody>
      </p:sp>
      <p:sp>
        <p:nvSpPr>
          <p:cNvPr id="11" name="Text 9"/>
          <p:cNvSpPr/>
          <p:nvPr/>
        </p:nvSpPr>
        <p:spPr>
          <a:xfrm>
            <a:off x="4343400" y="457200"/>
            <a:ext cx="7315200" cy="411480"/>
          </a:xfrm>
          <a:prstGeom prst="rect">
            <a:avLst/>
          </a:prstGeom>
          <a:noFill/>
          <a:ln/>
        </p:spPr>
        <p:txBody>
          <a:bodyPr wrap="square" rtlCol="0" anchor="ctr"/>
          <a:lstStyle/>
          <a:p>
            <a:pPr indent="0" marL="0">
              <a:buNone/>
            </a:pPr>
            <a:r>
              <a:rPr lang="en-US" sz="1400" b="1" spc="200" kern="0" dirty="0">
                <a:solidFill>
                  <a:srgbClr val="F97316"/>
                </a:solidFill>
                <a:latin typeface="Calibri" pitchFamily="34" charset="0"/>
                <a:ea typeface="Calibri" pitchFamily="34" charset="-122"/>
                <a:cs typeface="Calibri" pitchFamily="34" charset="-120"/>
              </a:rPr>
              <a:t>Interrogate the result</a:t>
            </a:r>
            <a:endParaRPr lang="en-US" sz="1400" dirty="0"/>
          </a:p>
        </p:txBody>
      </p:sp>
      <p:sp>
        <p:nvSpPr>
          <p:cNvPr id="12" name="Shape 10"/>
          <p:cNvSpPr/>
          <p:nvPr/>
        </p:nvSpPr>
        <p:spPr>
          <a:xfrm>
            <a:off x="4343400" y="960120"/>
            <a:ext cx="566928" cy="566928"/>
          </a:xfrm>
          <a:prstGeom prst="ellipse">
            <a:avLst/>
          </a:prstGeom>
          <a:solidFill>
            <a:srgbClr val="F97316"/>
          </a:solidFill>
          <a:ln/>
        </p:spPr>
      </p:sp>
      <p:sp>
        <p:nvSpPr>
          <p:cNvPr id="13" name="Text 11"/>
          <p:cNvSpPr/>
          <p:nvPr/>
        </p:nvSpPr>
        <p:spPr>
          <a:xfrm>
            <a:off x="4343400" y="960120"/>
            <a:ext cx="566928" cy="566928"/>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5074920" y="914400"/>
            <a:ext cx="6766560" cy="45720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Chat with the Report Agent</a:t>
            </a:r>
            <a:endParaRPr lang="en-US" sz="1900" dirty="0"/>
          </a:p>
        </p:txBody>
      </p:sp>
      <p:sp>
        <p:nvSpPr>
          <p:cNvPr id="15" name="Text 13"/>
          <p:cNvSpPr/>
          <p:nvPr/>
        </p:nvSpPr>
        <p:spPr>
          <a:xfrm>
            <a:off x="5074920" y="1371600"/>
            <a:ext cx="6720840" cy="868680"/>
          </a:xfrm>
          <a:prstGeom prst="rect">
            <a:avLst/>
          </a:prstGeom>
          <a:noFill/>
          <a:ln/>
        </p:spPr>
        <p:txBody>
          <a:bodyPr wrap="square" rtlCol="0" anchor="ctr"/>
          <a:lstStyle/>
          <a:p>
            <a:pPr indent="0" marL="0">
              <a:lnSpc>
                <a:spcPct val="112000"/>
              </a:lnSpc>
              <a:buNone/>
            </a:pPr>
            <a:r>
              <a:rPr lang="en-US" sz="1350" dirty="0">
                <a:solidFill>
                  <a:srgbClr val="666666"/>
                </a:solidFill>
                <a:latin typeface="Calibri" pitchFamily="34" charset="0"/>
                <a:ea typeface="Calibri" pitchFamily="34" charset="-122"/>
                <a:cs typeface="Calibri" pitchFamily="34" charset="-120"/>
              </a:rPr>
              <a:t>Ask the assessment anything — it answers from the measured KPIs and the graph.</a:t>
            </a:r>
            <a:endParaRPr lang="en-US" sz="1350" dirty="0"/>
          </a:p>
        </p:txBody>
      </p:sp>
      <p:sp>
        <p:nvSpPr>
          <p:cNvPr id="16" name="Shape 14"/>
          <p:cNvSpPr/>
          <p:nvPr/>
        </p:nvSpPr>
        <p:spPr>
          <a:xfrm>
            <a:off x="4343400" y="2377440"/>
            <a:ext cx="566928" cy="566928"/>
          </a:xfrm>
          <a:prstGeom prst="ellipse">
            <a:avLst/>
          </a:prstGeom>
          <a:solidFill>
            <a:srgbClr val="EA580C"/>
          </a:solidFill>
          <a:ln/>
        </p:spPr>
      </p:sp>
      <p:sp>
        <p:nvSpPr>
          <p:cNvPr id="17" name="Text 15"/>
          <p:cNvSpPr/>
          <p:nvPr/>
        </p:nvSpPr>
        <p:spPr>
          <a:xfrm>
            <a:off x="4343400" y="2377440"/>
            <a:ext cx="566928" cy="566928"/>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8" name="Text 16"/>
          <p:cNvSpPr/>
          <p:nvPr/>
        </p:nvSpPr>
        <p:spPr>
          <a:xfrm>
            <a:off x="5074920" y="2331720"/>
            <a:ext cx="6766560" cy="45720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Interview a customer</a:t>
            </a:r>
            <a:endParaRPr lang="en-US" sz="1900" dirty="0"/>
          </a:p>
        </p:txBody>
      </p:sp>
      <p:sp>
        <p:nvSpPr>
          <p:cNvPr id="19" name="Text 17"/>
          <p:cNvSpPr/>
          <p:nvPr/>
        </p:nvSpPr>
        <p:spPr>
          <a:xfrm>
            <a:off x="5074920" y="2788920"/>
            <a:ext cx="6720840" cy="868680"/>
          </a:xfrm>
          <a:prstGeom prst="rect">
            <a:avLst/>
          </a:prstGeom>
          <a:noFill/>
          <a:ln/>
        </p:spPr>
        <p:txBody>
          <a:bodyPr wrap="square" rtlCol="0" anchor="ctr"/>
          <a:lstStyle/>
          <a:p>
            <a:pPr indent="0" marL="0">
              <a:lnSpc>
                <a:spcPct val="112000"/>
              </a:lnSpc>
              <a:buNone/>
            </a:pPr>
            <a:r>
              <a:rPr lang="en-US" sz="1350" dirty="0">
                <a:solidFill>
                  <a:srgbClr val="666666"/>
                </a:solidFill>
                <a:latin typeface="Calibri" pitchFamily="34" charset="0"/>
                <a:ea typeface="Calibri" pitchFamily="34" charset="-122"/>
                <a:cs typeface="Calibri" pitchFamily="34" charset="-120"/>
              </a:rPr>
              <a:t>Open any individual persona and ask why they reacted the way they did.</a:t>
            </a:r>
            <a:endParaRPr lang="en-US" sz="1350" dirty="0"/>
          </a:p>
        </p:txBody>
      </p:sp>
      <p:sp>
        <p:nvSpPr>
          <p:cNvPr id="20" name="Shape 18"/>
          <p:cNvSpPr/>
          <p:nvPr/>
        </p:nvSpPr>
        <p:spPr>
          <a:xfrm>
            <a:off x="4343400" y="3794760"/>
            <a:ext cx="566928" cy="566928"/>
          </a:xfrm>
          <a:prstGeom prst="ellipse">
            <a:avLst/>
          </a:prstGeom>
          <a:solidFill>
            <a:srgbClr val="F59E0B"/>
          </a:solidFill>
          <a:ln/>
        </p:spPr>
      </p:sp>
      <p:sp>
        <p:nvSpPr>
          <p:cNvPr id="21" name="Text 19"/>
          <p:cNvSpPr/>
          <p:nvPr/>
        </p:nvSpPr>
        <p:spPr>
          <a:xfrm>
            <a:off x="4343400" y="3794760"/>
            <a:ext cx="566928" cy="566928"/>
          </a:xfrm>
          <a:prstGeom prst="rect">
            <a:avLst/>
          </a:prstGeom>
          <a:noFill/>
          <a:ln/>
        </p:spPr>
        <p:txBody>
          <a:bodyPr wrap="square" rtlCol="0" anchor="ctr"/>
          <a:lstStyle/>
          <a:p>
            <a:pPr algn="ctr" indent="0" marL="0">
              <a:buNone/>
            </a:pPr>
            <a:r>
              <a:rPr lang="en-US" sz="1700" b="1" dirty="0">
                <a:solidFill>
                  <a:srgbClr val="111111"/>
                </a:solidFill>
                <a:latin typeface="Calibri" pitchFamily="34" charset="0"/>
                <a:ea typeface="Calibri" pitchFamily="34" charset="-122"/>
                <a:cs typeface="Calibri" pitchFamily="34" charset="-120"/>
              </a:rPr>
              <a:t>❓</a:t>
            </a:r>
            <a:endParaRPr lang="en-US" sz="1700" dirty="0"/>
          </a:p>
        </p:txBody>
      </p:sp>
      <p:sp>
        <p:nvSpPr>
          <p:cNvPr id="22" name="Text 20"/>
          <p:cNvSpPr/>
          <p:nvPr/>
        </p:nvSpPr>
        <p:spPr>
          <a:xfrm>
            <a:off x="5074920" y="3749040"/>
            <a:ext cx="6766560" cy="45720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Survey a group</a:t>
            </a:r>
            <a:endParaRPr lang="en-US" sz="1900" dirty="0"/>
          </a:p>
        </p:txBody>
      </p:sp>
      <p:sp>
        <p:nvSpPr>
          <p:cNvPr id="23" name="Text 21"/>
          <p:cNvSpPr/>
          <p:nvPr/>
        </p:nvSpPr>
        <p:spPr>
          <a:xfrm>
            <a:off x="5074920" y="4206240"/>
            <a:ext cx="6720840" cy="868680"/>
          </a:xfrm>
          <a:prstGeom prst="rect">
            <a:avLst/>
          </a:prstGeom>
          <a:noFill/>
          <a:ln/>
        </p:spPr>
        <p:txBody>
          <a:bodyPr wrap="square" rtlCol="0" anchor="ctr"/>
          <a:lstStyle/>
          <a:p>
            <a:pPr indent="0" marL="0">
              <a:lnSpc>
                <a:spcPct val="112000"/>
              </a:lnSpc>
              <a:buNone/>
            </a:pPr>
            <a:r>
              <a:rPr lang="en-US" sz="1350" dirty="0">
                <a:solidFill>
                  <a:srgbClr val="666666"/>
                </a:solidFill>
                <a:latin typeface="Calibri" pitchFamily="34" charset="0"/>
                <a:ea typeface="Calibri" pitchFamily="34" charset="-122"/>
                <a:cs typeface="Calibri" pitchFamily="34" charset="-120"/>
              </a:rPr>
              <a:t>Put one question to a whole segment at once and read the spread.</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1C1C1C"/>
          </a:solidFill>
          <a:ln/>
        </p:spPr>
      </p:sp>
      <p:sp>
        <p:nvSpPr>
          <p:cNvPr id="3" name="Shape 1"/>
          <p:cNvSpPr/>
          <p:nvPr/>
        </p:nvSpPr>
        <p:spPr>
          <a:xfrm>
            <a:off x="10607040" y="-1554480"/>
            <a:ext cx="3108960" cy="3108960"/>
          </a:xfrm>
          <a:prstGeom prst="ellipse">
            <a:avLst/>
          </a:prstGeom>
          <a:solidFill>
            <a:srgbClr val="F97316"/>
          </a:solidFill>
          <a:ln/>
        </p:spPr>
      </p:sp>
      <p:sp>
        <p:nvSpPr>
          <p:cNvPr id="4" name="Text 2"/>
          <p:cNvSpPr/>
          <p:nvPr/>
        </p:nvSpPr>
        <p:spPr>
          <a:xfrm>
            <a:off x="731520" y="1188720"/>
            <a:ext cx="7315200" cy="457200"/>
          </a:xfrm>
          <a:prstGeom prst="rect">
            <a:avLst/>
          </a:prstGeom>
          <a:noFill/>
          <a:ln/>
        </p:spPr>
        <p:txBody>
          <a:bodyPr wrap="square" rtlCol="0" anchor="ctr"/>
          <a:lstStyle/>
          <a:p>
            <a:pPr indent="0" marL="0">
              <a:buNone/>
            </a:pPr>
            <a:r>
              <a:rPr lang="en-US" sz="1500" b="1" spc="300" kern="0" dirty="0">
                <a:solidFill>
                  <a:srgbClr val="F97316"/>
                </a:solidFill>
                <a:latin typeface="Calibri" pitchFamily="34" charset="0"/>
                <a:ea typeface="Calibri" pitchFamily="34" charset="-122"/>
                <a:cs typeface="Calibri" pitchFamily="34" charset="-120"/>
              </a:rPr>
              <a:t>In one line</a:t>
            </a:r>
            <a:endParaRPr lang="en-US" sz="1500" dirty="0"/>
          </a:p>
        </p:txBody>
      </p:sp>
      <p:sp>
        <p:nvSpPr>
          <p:cNvPr id="5" name="Text 3"/>
          <p:cNvSpPr/>
          <p:nvPr/>
        </p:nvSpPr>
        <p:spPr>
          <a:xfrm>
            <a:off x="713232" y="1645920"/>
            <a:ext cx="10515600" cy="1645920"/>
          </a:xfrm>
          <a:prstGeom prst="rect">
            <a:avLst/>
          </a:prstGeom>
          <a:noFill/>
          <a:ln/>
        </p:spPr>
        <p:txBody>
          <a:bodyPr wrap="square" rtlCol="0" anchor="ctr"/>
          <a:lstStyle/>
          <a:p>
            <a:pPr indent="0" marL="0">
              <a:lnSpc>
                <a:spcPct val="105000"/>
              </a:lnSpc>
              <a:buNone/>
            </a:pPr>
            <a:r>
              <a:rPr lang="en-US" sz="3300" b="1" dirty="0">
                <a:solidFill>
                  <a:srgbClr val="FFFFFF"/>
                </a:solidFill>
                <a:latin typeface="Calibri" pitchFamily="34" charset="0"/>
                <a:ea typeface="Calibri" pitchFamily="34" charset="-122"/>
                <a:cs typeface="Calibri" pitchFamily="34" charset="-120"/>
              </a:rPr>
              <a:t>Five steps, one mirror —</a:t>
            </a:r>
            <a:endParaRPr lang="en-US" sz="3300" dirty="0"/>
          </a:p>
          <a:p>
            <a:pPr indent="0" marL="0">
              <a:lnSpc>
                <a:spcPct val="105000"/>
              </a:lnSpc>
              <a:buNone/>
            </a:pPr>
            <a:r>
              <a:rPr lang="en-US" sz="3300" b="1" dirty="0">
                <a:solidFill>
                  <a:srgbClr val="FFFFFF"/>
                </a:solidFill>
                <a:latin typeface="Calibri" pitchFamily="34" charset="0"/>
                <a:ea typeface="Calibri" pitchFamily="34" charset="-122"/>
                <a:cs typeface="Calibri" pitchFamily="34" charset="-120"/>
              </a:rPr>
              <a:t>your campaign, measured before you spend.</a:t>
            </a:r>
            <a:endParaRPr lang="en-US" sz="3300" dirty="0"/>
          </a:p>
        </p:txBody>
      </p:sp>
      <p:sp>
        <p:nvSpPr>
          <p:cNvPr id="6" name="Shape 4"/>
          <p:cNvSpPr/>
          <p:nvPr/>
        </p:nvSpPr>
        <p:spPr>
          <a:xfrm>
            <a:off x="731520" y="3657600"/>
            <a:ext cx="548640" cy="548640"/>
          </a:xfrm>
          <a:prstGeom prst="ellipse">
            <a:avLst/>
          </a:prstGeom>
          <a:solidFill>
            <a:srgbClr val="F97316"/>
          </a:solidFill>
          <a:ln/>
        </p:spPr>
      </p:sp>
      <p:sp>
        <p:nvSpPr>
          <p:cNvPr id="7" name="Text 5"/>
          <p:cNvSpPr/>
          <p:nvPr/>
        </p:nvSpPr>
        <p:spPr>
          <a:xfrm>
            <a:off x="731520" y="3657600"/>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1463040" y="3639312"/>
            <a:ext cx="2194560" cy="5486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Run it</a:t>
            </a:r>
            <a:endParaRPr lang="en-US" sz="1800" dirty="0"/>
          </a:p>
        </p:txBody>
      </p:sp>
      <p:sp>
        <p:nvSpPr>
          <p:cNvPr id="9" name="Text 7"/>
          <p:cNvSpPr/>
          <p:nvPr/>
        </p:nvSpPr>
        <p:spPr>
          <a:xfrm>
            <a:off x="3566160" y="3639312"/>
            <a:ext cx="7863840" cy="594360"/>
          </a:xfrm>
          <a:prstGeom prst="rect">
            <a:avLst/>
          </a:prstGeom>
          <a:noFill/>
          <a:ln/>
        </p:spPr>
        <p:txBody>
          <a:bodyPr wrap="square" rtlCol="0" anchor="ctr"/>
          <a:lstStyle/>
          <a:p>
            <a:pPr indent="0" marL="0">
              <a:buNone/>
            </a:pPr>
            <a:r>
              <a:rPr lang="en-US" sz="1400" dirty="0">
                <a:solidFill>
                  <a:srgbClr val="CFCFCF"/>
                </a:solidFill>
                <a:latin typeface="Calibri" pitchFamily="34" charset="0"/>
                <a:ea typeface="Calibri" pitchFamily="34" charset="-122"/>
                <a:cs typeface="Calibri" pitchFamily="34" charset="-120"/>
              </a:rPr>
              <a:t>npm run setup:all  →  npm run dev   ·   or  docker compose up -d</a:t>
            </a:r>
            <a:endParaRPr lang="en-US" sz="1400" dirty="0"/>
          </a:p>
        </p:txBody>
      </p:sp>
      <p:sp>
        <p:nvSpPr>
          <p:cNvPr id="10" name="Shape 8"/>
          <p:cNvSpPr/>
          <p:nvPr/>
        </p:nvSpPr>
        <p:spPr>
          <a:xfrm>
            <a:off x="731520" y="4526280"/>
            <a:ext cx="548640" cy="548640"/>
          </a:xfrm>
          <a:prstGeom prst="ellipse">
            <a:avLst/>
          </a:prstGeom>
          <a:solidFill>
            <a:srgbClr val="F59E0B"/>
          </a:solidFill>
          <a:ln/>
        </p:spPr>
      </p:sp>
      <p:sp>
        <p:nvSpPr>
          <p:cNvPr id="11" name="Text 9"/>
          <p:cNvSpPr/>
          <p:nvPr/>
        </p:nvSpPr>
        <p:spPr>
          <a:xfrm>
            <a:off x="731520" y="4526280"/>
            <a:ext cx="548640" cy="548640"/>
          </a:xfrm>
          <a:prstGeom prst="rect">
            <a:avLst/>
          </a:prstGeom>
          <a:noFill/>
          <a:ln/>
        </p:spPr>
        <p:txBody>
          <a:bodyPr wrap="square"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1463040" y="4507992"/>
            <a:ext cx="2194560" cy="5486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Try it</a:t>
            </a:r>
            <a:endParaRPr lang="en-US" sz="1800" dirty="0"/>
          </a:p>
        </p:txBody>
      </p:sp>
      <p:sp>
        <p:nvSpPr>
          <p:cNvPr id="13" name="Text 11"/>
          <p:cNvSpPr/>
          <p:nvPr/>
        </p:nvSpPr>
        <p:spPr>
          <a:xfrm>
            <a:off x="3566160" y="4507992"/>
            <a:ext cx="7863840" cy="594360"/>
          </a:xfrm>
          <a:prstGeom prst="rect">
            <a:avLst/>
          </a:prstGeom>
          <a:noFill/>
          <a:ln/>
        </p:spPr>
        <p:txBody>
          <a:bodyPr wrap="square" rtlCol="0" anchor="ctr"/>
          <a:lstStyle/>
          <a:p>
            <a:pPr indent="0" marL="0">
              <a:buNone/>
            </a:pPr>
            <a:r>
              <a:rPr lang="en-US" sz="1400" dirty="0">
                <a:solidFill>
                  <a:srgbClr val="CFCFCF"/>
                </a:solidFill>
                <a:latin typeface="Calibri" pitchFamily="34" charset="0"/>
                <a:ea typeface="Calibri" pitchFamily="34" charset="-122"/>
                <a:cs typeface="Calibri" pitchFamily="34" charset="-120"/>
              </a:rPr>
              <a:t>Frontend :3000 · Backend :5001 · keep first runs under 40 rounds</a:t>
            </a:r>
            <a:endParaRPr lang="en-US" sz="1400" dirty="0"/>
          </a:p>
        </p:txBody>
      </p:sp>
      <p:sp>
        <p:nvSpPr>
          <p:cNvPr id="14" name="Shape 12"/>
          <p:cNvSpPr/>
          <p:nvPr/>
        </p:nvSpPr>
        <p:spPr>
          <a:xfrm>
            <a:off x="731520" y="5394960"/>
            <a:ext cx="548640" cy="548640"/>
          </a:xfrm>
          <a:prstGeom prst="ellipse">
            <a:avLst/>
          </a:prstGeom>
          <a:solidFill>
            <a:srgbClr val="F97316"/>
          </a:solidFill>
          <a:ln/>
        </p:spPr>
      </p:sp>
      <p:sp>
        <p:nvSpPr>
          <p:cNvPr id="15" name="Text 13"/>
          <p:cNvSpPr/>
          <p:nvPr/>
        </p:nvSpPr>
        <p:spPr>
          <a:xfrm>
            <a:off x="731520" y="5394960"/>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1463040" y="5376672"/>
            <a:ext cx="2194560" cy="5486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Built on</a:t>
            </a:r>
            <a:endParaRPr lang="en-US" sz="1800" dirty="0"/>
          </a:p>
        </p:txBody>
      </p:sp>
      <p:sp>
        <p:nvSpPr>
          <p:cNvPr id="17" name="Text 15"/>
          <p:cNvSpPr/>
          <p:nvPr/>
        </p:nvSpPr>
        <p:spPr>
          <a:xfrm>
            <a:off x="3566160" y="5376672"/>
            <a:ext cx="7863840" cy="594360"/>
          </a:xfrm>
          <a:prstGeom prst="rect">
            <a:avLst/>
          </a:prstGeom>
          <a:noFill/>
          <a:ln/>
        </p:spPr>
        <p:txBody>
          <a:bodyPr wrap="square" rtlCol="0" anchor="ctr"/>
          <a:lstStyle/>
          <a:p>
            <a:pPr indent="0" marL="0">
              <a:buNone/>
            </a:pPr>
            <a:r>
              <a:rPr lang="en-US" sz="1400" dirty="0">
                <a:solidFill>
                  <a:srgbClr val="CFCFCF"/>
                </a:solidFill>
                <a:latin typeface="Calibri" pitchFamily="34" charset="0"/>
                <a:ea typeface="Calibri" pitchFamily="34" charset="-122"/>
                <a:cs typeface="Calibri" pitchFamily="34" charset="-120"/>
              </a:rPr>
              <a:t>Forked from MiroFish · OASIS by CAMEL-AI · memory by Zep</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2026-07-30T03:23:16Z</dcterms:created>
  <dcterms:modified xsi:type="dcterms:W3CDTF">2026-07-30T03:23:16Z</dcterms:modified>
</cp:coreProperties>
</file>