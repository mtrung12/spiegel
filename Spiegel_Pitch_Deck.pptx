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37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F442E-9DFF-C085-7550-D6CFE40313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34000" y="63500"/>
            <a:ext cx="15478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(by Asseco CE)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/>
          <p:nvPr/>
        </p:nvSpPr>
        <p:spPr>
          <a:xfrm>
            <a:off x="731520" y="1965960"/>
            <a:ext cx="7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CAMPAIGN TESTING</a:t>
            </a:r>
          </a:p>
        </p:txBody>
      </p:sp>
      <p:sp>
        <p:nvSpPr>
          <p:cNvPr id="4" name="Text 1"/>
          <p:cNvSpPr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SPIEGEL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758952" y="3364992"/>
            <a:ext cx="77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 social media for </a:t>
            </a:r>
            <a:r>
              <a:rPr lang="en-US" sz="21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reactions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8952" y="3913632"/>
            <a:ext cx="730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audience of buyer personas reacts to your creative in a simulated social feed — so you see the sentiment, the objections and the virality before a single real customer does.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NTH  ·  Project pitch  ·  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budgets don't buy immunity to backlash.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campaigns. Same story: real money, zero testing on a real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55080" y="2148840"/>
            <a:ext cx="51663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admiring-busy-ramanujan/mnt/outputs/brand_images/pepsi_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09" y="2423160"/>
            <a:ext cx="3002901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4251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 Light, 2023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29400" y="4617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62940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drinkers hated one influencer deal — lost its #1 US spot.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51663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admiring-busy-ramanujan/mnt/outputs/brand_images/gap_ol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05" y="2423160"/>
            <a:ext cx="1651229" cy="1645920"/>
          </a:xfrm>
          <a:prstGeom prst="rect">
            <a:avLst/>
          </a:prstGeom>
        </p:spPr>
      </p:pic>
      <p:pic>
        <p:nvPicPr>
          <p:cNvPr id="12" name="Image 2" descr="/sessions/admiring-busy-ramanujan/mnt/outputs/brand_images/gap_new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77309"/>
            <a:ext cx="2148840" cy="11376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63240" y="2423160"/>
            <a:ext cx="320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4400" y="4251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Gap, 2010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14400" y="4617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91440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hated the new look — reverted in 6 days.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was caught before launch — because there was no way to see the reaction coming.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Branding Journal, Reuters (2010); AP, CNBC (2023)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testing campaigns on real customers.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SPIEGEL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4688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admiring-busy-ramanujan/mnt/outputs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5946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produce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46704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1248" y="357530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admiring-busy-ramanujan/mnt/outputs/icons/s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70103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346704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to the real world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4453128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1E2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" y="4681728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sessions/admiring-busy-ramanujan/mnt/outputs/icons/alert_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480745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581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audience reacts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test — money already spent.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55080" y="1783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SPIEGEL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224028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24688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sessions/admiring-busy-ramanujan/mnt/outputs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978" y="25946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22402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produce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355080" y="3346704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556248" y="357530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sessions/admiring-busy-ramanujan/mnt/outputs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978" y="3701034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3346704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a simulated audience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355080" y="4453128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1E2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6556248" y="4681728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/sessions/admiring-busy-ramanujan/mnt/outpu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1978" y="4807458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23760" y="4581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with confidence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22376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audience reacts like you predicted.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that changes: when the real reaction happens.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brief to verdict.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653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dmiring-busy-ramanujan/mnt/outputs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025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739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building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931920" y="17739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brief and creative are extracted into a knowledge graph — Graphiti over Neo4j.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12700">
            <a:solidFill>
              <a:srgbClr val="FBD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7797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sessions/admiring-busy-ramanujan/mnt/outputs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16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88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setup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931920" y="26883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become buyer personas: demographics, needs, brand attitude, media habits.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2700">
            <a:solidFill>
              <a:srgbClr val="FBD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" y="36941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sessions/admiring-busy-ramanujan/mnt/outputs/icons/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313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6027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3931920" y="36027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creative is seeded into simulated Twitter and Reddit; agents react over N rounds.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12700">
            <a:solidFill>
              <a:srgbClr val="FBD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46085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sessions/admiring-busy-ramanujan/mnt/outputs/icons/bar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457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5171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3931920" y="45171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and counted into marketing metrics — nothing is eyeballed.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394960"/>
            <a:ext cx="10881360" cy="0"/>
          </a:xfrm>
          <a:prstGeom prst="line">
            <a:avLst/>
          </a:prstGeom>
          <a:noFill/>
          <a:ln w="12700">
            <a:solidFill>
              <a:srgbClr val="FBD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40080" y="55229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sessions/admiring-busy-ramanujan/mnt/outputs/icons/file_t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601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4315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3931920" y="54315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agent reads the metrics and the graph, and writes the verdict — chat with it or interview agents.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— grounded in your data, not guesswork.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admiring-busy-ramanujan/mnt/outputs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3088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19456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&amp; reach rate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admiring-busy-ramanujan/mnt/outputs/icons/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96722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852928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sessions/admiring-busy-ramanujan/mnt/outputs/icons/sm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6255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511296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split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/sessions/admiring-busy-ramanujan/mnt/outputs/icons/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28396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1872" y="4169664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Virality ratio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sessions/admiring-busy-ramanujan/mnt/outputs/icons/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942332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1872" y="4828032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voice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/sessions/admiring-busy-ramanujan/mnt/outputs/icons/bar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560070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61872" y="548640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Round-by-round curve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40080" y="6236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the full report — and as JSON from the API.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35508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 IT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/sessions/admiring-busy-ramanujan/mnt/outputs/icons/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0810" y="232029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2167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knowledge graph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7040880" y="2542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own deployment. No data leaves it.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355080" y="33375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/sessions/admiring-busy-ramanujan/mnt/outputs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0810" y="3463290"/>
            <a:ext cx="251460" cy="2514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3310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Counted, not estimated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7040880" y="3685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come straight from the action log.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6355080" y="44805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/sessions/admiring-busy-ramanujan/mnt/outputs/icons/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0810" y="4606290"/>
            <a:ext cx="251460" cy="2514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040880" y="4453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simulation engine</a:t>
            </a:r>
            <a:endParaRPr lang="en-US" sz="1500" dirty="0"/>
          </a:p>
        </p:txBody>
      </p:sp>
      <p:sp>
        <p:nvSpPr>
          <p:cNvPr id="36" name="Text 25"/>
          <p:cNvSpPr/>
          <p:nvPr/>
        </p:nvSpPr>
        <p:spPr>
          <a:xfrm>
            <a:off x="7040880" y="4828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OASIS (CAMEL-AI) — not one model’s opinion.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trillion-dollar market that still launches on guesswork.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$1T+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520440" y="176479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 spend crosses $1 trillion for the first time in 2026 — and pre-testing is still slow, expensive, or skipped.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8" y="28803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26768" y="31546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admiring-busy-ramanujan/mnt/outpu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788" y="33147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662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active, paying market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06628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already budget for pre-testing. Kantar, System1 and VidMob charge $200 to $10,000+ a month for surveys and panels.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1348" y="28803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75808" y="31546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sessions/admiring-busy-ramanujan/mnt/outputs/icons/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8" y="33147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56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gap to fill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55668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tools ask people what they think. Spiegel simulates what they’d actually do — post, share, object — grounded in your own brief.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0388" y="28803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BD8AE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524848" y="31546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sessions/admiring-busy-ramanujan/mnt/outputs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868" y="33147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470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marketing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04708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 of majority opinion runs on the same engine — election polls, policy surveys, market research — not just marketing.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eMarketer &amp; dentsu (2026 global ad spend); public pricing pages, industry roundups (2026)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"/>
          <p:cNvSpPr/>
          <p:nvPr/>
        </p:nvSpPr>
        <p:spPr>
          <a:xfrm>
            <a:off x="11064240" y="5897880"/>
            <a:ext cx="2377440" cy="2377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31520" y="1737360"/>
            <a:ext cx="6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2148840"/>
            <a:ext cx="900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</a:p>
        </p:txBody>
      </p:sp>
      <p:sp>
        <p:nvSpPr>
          <p:cNvPr id="6" name="Button">
            <a:hlinkClick r:id="rId2"/>
          </p:cNvPr>
          <p:cNvSpPr/>
          <p:nvPr/>
        </p:nvSpPr>
        <p:spPr>
          <a:xfrm>
            <a:off x="731520" y="4526280"/>
            <a:ext cx="3931920" cy="6858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localhost:3000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"/>
          <p:cNvSpPr/>
          <p:nvPr/>
        </p:nvSpPr>
        <p:spPr>
          <a:xfrm>
            <a:off x="11064240" y="5897880"/>
            <a:ext cx="2377440" cy="2377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Wordmark"/>
          <p:cNvSpPr/>
          <p:nvPr/>
        </p:nvSpPr>
        <p:spPr>
          <a:xfrm>
            <a:off x="731520" y="731520"/>
            <a:ext cx="4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SPIEGEL</a:t>
            </a:r>
          </a:p>
        </p:txBody>
      </p:sp>
      <p:sp>
        <p:nvSpPr>
          <p:cNvPr id="4" name="Thanks"/>
          <p:cNvSpPr/>
          <p:nvPr/>
        </p:nvSpPr>
        <p:spPr>
          <a:xfrm>
            <a:off x="731520" y="2560320"/>
            <a:ext cx="1000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6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</a:t>
            </a:r>
            <a:br>
              <a:rPr lang="en-US" sz="6600" b="1" dirty="0">
                <a:latin typeface="Arial" pitchFamily="34" charset="0"/>
              </a:rPr>
            </a:br>
            <a:r>
              <a:rPr lang="en-US" sz="6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de58f8-cc0d-49df-992b-9d125b744fc2}" enabled="1" method="Standard" siteId="{6573a299-ce07-4046-aaa3-db180daff1a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577</Words>
  <Application>Microsoft Office PowerPoint</Application>
  <PresentationFormat>Widescreen</PresentationFormat>
  <Paragraphs>87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NGO MINH Trung</cp:lastModifiedBy>
  <cp:revision>14</cp:revision>
  <dcterms:created xsi:type="dcterms:W3CDTF">2026-08-03T18:33:34Z</dcterms:created>
  <dcterms:modified xsi:type="dcterms:W3CDTF">2026-08-04T09:44:34Z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CONFIDENTIAL (by Asseco CE)</vt:lpwstr>
  </property>
</Properties>
</file>